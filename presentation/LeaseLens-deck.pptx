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 Sai. This is LeaseLens. It reads incoming leases automatically and flags only the ones that need a person to review. I'll show what it does, why it is useful, and how I built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Property managers receive leases as PDFs and key them in by hand. It is slow, and the costly errors, like a deposit above the legal limit, are easy to miss at volume. This is built for leasing teams that process leases in bulk. Clean leases pass through automatically, and people only review the exceptions.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lease runs the same six steps: classify the document, run a gate check that includes OCR for scans, extract the key terms, validate against rules, review the contract text, then hand the result to a person. The first five steps are automatic. Now I'll open the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app. One row per lease, color-coded by verdict. Open a lease to see the extracted fields and the issues it flagged. Do the live walkthrough here: open a flagged lease, show the deposit flag, then show a scanned one that was read with OCR.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backend is Python and FastAPI. It uses pdfplumber to read text and Tesseract for OCR on scans. The main design choice is that reading a document has two interchangeable modes behind one interface: a fast offline mode that needs no API key, and an AI model you turn on by adding a key, with no other changes. The rules are simple and readable, and a test suite covers the sample leases.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is LeaseLens. It reads the document, flags what matters, and skips the rest. Thank you for watching. Swap in the real repo link before recording.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1.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8869680" y="-2011680"/>
            <a:ext cx="5669280" cy="5669280"/>
          </a:xfrm>
          <a:prstGeom prst="ellipse">
            <a:avLst/>
          </a:prstGeom>
          <a:solidFill>
            <a:srgbClr val="1B2638"/>
          </a:solidFill>
          <a:ln/>
        </p:spPr>
      </p:sp>
      <p:sp>
        <p:nvSpPr>
          <p:cNvPr id="3" name="Shape 1"/>
          <p:cNvSpPr/>
          <p:nvPr/>
        </p:nvSpPr>
        <p:spPr>
          <a:xfrm>
            <a:off x="10241280" y="4023360"/>
            <a:ext cx="4206240" cy="4206240"/>
          </a:xfrm>
          <a:prstGeom prst="ellipse">
            <a:avLst/>
          </a:prstGeom>
          <a:solidFill>
            <a:srgbClr val="1B2638"/>
          </a:solidFill>
          <a:ln/>
        </p:spPr>
      </p:sp>
      <p:sp>
        <p:nvSpPr>
          <p:cNvPr id="4" name="Shape 2"/>
          <p:cNvSpPr/>
          <p:nvPr/>
        </p:nvSpPr>
        <p:spPr>
          <a:xfrm>
            <a:off x="822960" y="777240"/>
            <a:ext cx="566928" cy="566928"/>
          </a:xfrm>
          <a:prstGeom prst="ellipse">
            <a:avLst/>
          </a:prstGeom>
          <a:solidFill>
            <a:srgbClr val="2563EB"/>
          </a:solidFill>
          <a:ln/>
        </p:spPr>
      </p:sp>
      <p:pic>
        <p:nvPicPr>
          <p:cNvPr id="5" name="Image 0" descr="preencoded.png">    </p:cNvPr>
          <p:cNvPicPr>
            <a:picLocks noChangeAspect="1"/>
          </p:cNvPicPr>
          <p:nvPr/>
        </p:nvPicPr>
        <p:blipFill>
          <a:blip r:embed="rId1"/>
          <a:stretch>
            <a:fillRect/>
          </a:stretch>
        </p:blipFill>
        <p:spPr>
          <a:xfrm>
            <a:off x="976031" y="930311"/>
            <a:ext cx="260787" cy="260787"/>
          </a:xfrm>
          <a:prstGeom prst="rect">
            <a:avLst/>
          </a:prstGeom>
        </p:spPr>
      </p:pic>
      <p:sp>
        <p:nvSpPr>
          <p:cNvPr id="6" name="Text 3"/>
          <p:cNvSpPr/>
          <p:nvPr/>
        </p:nvSpPr>
        <p:spPr>
          <a:xfrm>
            <a:off x="1508760" y="749808"/>
            <a:ext cx="5486400" cy="640080"/>
          </a:xfrm>
          <a:prstGeom prst="rect">
            <a:avLst/>
          </a:prstGeom>
          <a:noFill/>
          <a:ln/>
        </p:spPr>
        <p:txBody>
          <a:bodyPr wrap="square" lIns="0" tIns="0" rIns="0" bIns="0" rtlCol="0" anchor="ctr"/>
          <a:lstStyle/>
          <a:p>
            <a:pPr indent="0" marL="0">
              <a:buNone/>
            </a:pPr>
            <a:r>
              <a:rPr lang="en-US" sz="2600" b="1" dirty="0">
                <a:solidFill>
                  <a:srgbClr val="FFFFFF"/>
                </a:solidFill>
                <a:latin typeface="Trebuchet MS" pitchFamily="34" charset="0"/>
                <a:ea typeface="Trebuchet MS" pitchFamily="34" charset="-122"/>
                <a:cs typeface="Trebuchet MS" pitchFamily="34" charset="-120"/>
              </a:rPr>
              <a:t>LeaseLens</a:t>
            </a:r>
            <a:endParaRPr lang="en-US" sz="2600" dirty="0"/>
          </a:p>
        </p:txBody>
      </p:sp>
      <p:sp>
        <p:nvSpPr>
          <p:cNvPr id="7" name="Text 4"/>
          <p:cNvSpPr/>
          <p:nvPr/>
        </p:nvSpPr>
        <p:spPr>
          <a:xfrm>
            <a:off x="822960" y="2240280"/>
            <a:ext cx="10241280" cy="1554480"/>
          </a:xfrm>
          <a:prstGeom prst="rect">
            <a:avLst/>
          </a:prstGeom>
          <a:noFill/>
          <a:ln/>
        </p:spPr>
        <p:txBody>
          <a:bodyPr wrap="square" lIns="0" tIns="0" rIns="0" bIns="0" rtlCol="0" anchor="ctr"/>
          <a:lstStyle/>
          <a:p>
            <a:pPr indent="0" marL="0">
              <a:lnSpc>
                <a:spcPts val="4400"/>
              </a:lnSpc>
              <a:buNone/>
            </a:pPr>
            <a:r>
              <a:rPr lang="en-US" sz="3800" b="1" dirty="0">
                <a:solidFill>
                  <a:srgbClr val="FFFFFF"/>
                </a:solidFill>
                <a:latin typeface="Trebuchet MS" pitchFamily="34" charset="0"/>
                <a:ea typeface="Trebuchet MS" pitchFamily="34" charset="-122"/>
                <a:cs typeface="Trebuchet MS" pitchFamily="34" charset="-120"/>
              </a:rPr>
              <a:t>It reads incoming leases and flags only the ones that need review.</a:t>
            </a:r>
            <a:endParaRPr lang="en-US" sz="3800" dirty="0"/>
          </a:p>
        </p:txBody>
      </p:sp>
      <p:sp>
        <p:nvSpPr>
          <p:cNvPr id="8" name="Text 5"/>
          <p:cNvSpPr/>
          <p:nvPr/>
        </p:nvSpPr>
        <p:spPr>
          <a:xfrm>
            <a:off x="841248" y="4114800"/>
            <a:ext cx="9144000" cy="548640"/>
          </a:xfrm>
          <a:prstGeom prst="rect">
            <a:avLst/>
          </a:prstGeom>
          <a:noFill/>
          <a:ln/>
        </p:spPr>
        <p:txBody>
          <a:bodyPr wrap="square" lIns="0" tIns="0" rIns="0" bIns="0" rtlCol="0" anchor="ctr"/>
          <a:lstStyle/>
          <a:p>
            <a:pPr indent="0" marL="0">
              <a:buNone/>
            </a:pPr>
            <a:r>
              <a:rPr lang="en-US" sz="1800" dirty="0">
                <a:solidFill>
                  <a:srgbClr val="9DB0CE"/>
                </a:solidFill>
                <a:latin typeface="Calibri" pitchFamily="34" charset="0"/>
                <a:ea typeface="Calibri" pitchFamily="34" charset="-122"/>
                <a:cs typeface="Calibri" pitchFamily="34" charset="-120"/>
              </a:rPr>
              <a:t>A short demo of what it does, why it is useful, and how it is built.</a:t>
            </a:r>
            <a:endParaRPr lang="en-US" sz="1800" dirty="0"/>
          </a:p>
        </p:txBody>
      </p:sp>
      <p:sp>
        <p:nvSpPr>
          <p:cNvPr id="9" name="Text 6"/>
          <p:cNvSpPr/>
          <p:nvPr/>
        </p:nvSpPr>
        <p:spPr>
          <a:xfrm>
            <a:off x="841248" y="5852160"/>
            <a:ext cx="5486400" cy="365760"/>
          </a:xfrm>
          <a:prstGeom prst="rect">
            <a:avLst/>
          </a:prstGeom>
          <a:noFill/>
          <a:ln/>
        </p:spPr>
        <p:txBody>
          <a:bodyPr wrap="square" lIns="0" tIns="0" rIns="0" bIns="0" rtlCol="0" anchor="ctr"/>
          <a:lstStyle/>
          <a:p>
            <a:pPr indent="0" marL="0">
              <a:buNone/>
            </a:pPr>
            <a:r>
              <a:rPr lang="en-US" sz="1400" dirty="0">
                <a:solidFill>
                  <a:srgbClr val="6E80A0"/>
                </a:solidFill>
                <a:latin typeface="Calibri" pitchFamily="34" charset="0"/>
                <a:ea typeface="Calibri" pitchFamily="34" charset="-122"/>
                <a:cs typeface="Calibri" pitchFamily="34" charset="-120"/>
              </a:rPr>
              <a:t>Built solo · Sai</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822960" y="640080"/>
            <a:ext cx="8229600" cy="274320"/>
          </a:xfrm>
          <a:prstGeom prst="rect">
            <a:avLst/>
          </a:prstGeom>
          <a:noFill/>
          <a:ln/>
        </p:spPr>
        <p:txBody>
          <a:bodyPr wrap="square" lIns="0" tIns="0" rIns="0" bIns="0" rtlCol="0" anchor="ctr"/>
          <a:lstStyle/>
          <a:p>
            <a:pPr indent="0" marL="0">
              <a:buNone/>
            </a:pPr>
            <a:r>
              <a:rPr lang="en-US" sz="1200" b="1" spc="300" kern="0" dirty="0">
                <a:solidFill>
                  <a:srgbClr val="2563EB"/>
                </a:solidFill>
                <a:latin typeface="Trebuchet MS" pitchFamily="34" charset="0"/>
                <a:ea typeface="Trebuchet MS" pitchFamily="34" charset="-122"/>
                <a:cs typeface="Trebuchet MS" pitchFamily="34" charset="-120"/>
              </a:rPr>
              <a:t>WHY IT'S USEFUL</a:t>
            </a:r>
            <a:endParaRPr lang="en-US" sz="1200" dirty="0"/>
          </a:p>
        </p:txBody>
      </p:sp>
      <p:sp>
        <p:nvSpPr>
          <p:cNvPr id="3" name="Text 1"/>
          <p:cNvSpPr/>
          <p:nvPr/>
        </p:nvSpPr>
        <p:spPr>
          <a:xfrm>
            <a:off x="822960" y="960120"/>
            <a:ext cx="7680960" cy="822960"/>
          </a:xfrm>
          <a:prstGeom prst="rect">
            <a:avLst/>
          </a:prstGeom>
          <a:noFill/>
          <a:ln/>
        </p:spPr>
        <p:txBody>
          <a:bodyPr wrap="square" lIns="0" tIns="0" rIns="0" bIns="0" rtlCol="0" anchor="ctr"/>
          <a:lstStyle/>
          <a:p>
            <a:pPr indent="0" marL="0">
              <a:buNone/>
            </a:pPr>
            <a:r>
              <a:rPr lang="en-US" sz="3300" b="1" dirty="0">
                <a:solidFill>
                  <a:srgbClr val="0F172A"/>
                </a:solidFill>
                <a:latin typeface="Trebuchet MS" pitchFamily="34" charset="0"/>
                <a:ea typeface="Trebuchet MS" pitchFamily="34" charset="-122"/>
                <a:cs typeface="Trebuchet MS" pitchFamily="34" charset="-120"/>
              </a:rPr>
              <a:t>Reading leases by hand doesn't scale</a:t>
            </a:r>
            <a:endParaRPr lang="en-US" sz="3300" dirty="0"/>
          </a:p>
        </p:txBody>
      </p:sp>
      <p:sp>
        <p:nvSpPr>
          <p:cNvPr id="4" name="Text 2"/>
          <p:cNvSpPr/>
          <p:nvPr/>
        </p:nvSpPr>
        <p:spPr>
          <a:xfrm>
            <a:off x="822960" y="1874520"/>
            <a:ext cx="6126480" cy="1371600"/>
          </a:xfrm>
          <a:prstGeom prst="rect">
            <a:avLst/>
          </a:prstGeom>
          <a:noFill/>
          <a:ln/>
        </p:spPr>
        <p:txBody>
          <a:bodyPr wrap="square" lIns="0" tIns="0" rIns="0" bIns="0" rtlCol="0" anchor="ctr"/>
          <a:lstStyle/>
          <a:p>
            <a:pPr indent="0" marL="0">
              <a:lnSpc>
                <a:spcPts val="2600"/>
              </a:lnSpc>
              <a:buNone/>
            </a:pPr>
            <a:r>
              <a:rPr lang="en-US" sz="1700" dirty="0">
                <a:solidFill>
                  <a:srgbClr val="334155"/>
                </a:solidFill>
                <a:latin typeface="Calibri" pitchFamily="34" charset="0"/>
                <a:ea typeface="Calibri" pitchFamily="34" charset="-122"/>
                <a:cs typeface="Calibri" pitchFamily="34" charset="-120"/>
              </a:rPr>
              <a:t>Property managers receive signed leases as PDFs. Today, someone opens each one and types the rent, deposit, and dates into their system by hand, one document at a time.</a:t>
            </a:r>
            <a:endParaRPr lang="en-US" sz="1700" dirty="0"/>
          </a:p>
        </p:txBody>
      </p:sp>
      <p:sp>
        <p:nvSpPr>
          <p:cNvPr id="5" name="Shape 3"/>
          <p:cNvSpPr/>
          <p:nvPr/>
        </p:nvSpPr>
        <p:spPr>
          <a:xfrm>
            <a:off x="7269480" y="1783080"/>
            <a:ext cx="4069080" cy="1280160"/>
          </a:xfrm>
          <a:prstGeom prst="roundRect">
            <a:avLst>
              <a:gd name="adj" fmla="val 7143"/>
            </a:avLst>
          </a:prstGeom>
          <a:solidFill>
            <a:srgbClr val="FFFFFF"/>
          </a:solidFill>
          <a:ln w="12700">
            <a:solidFill>
              <a:srgbClr val="E6EBF2"/>
            </a:solidFill>
            <a:prstDash val="solid"/>
          </a:ln>
          <a:effectLst>
            <a:outerShdw sx="100000" sy="100000" kx="0" ky="0" algn="bl" rotWithShape="0" blurRad="114300" dist="38100" dir="5400000">
              <a:srgbClr val="1E293B">
                <a:alpha val="12000"/>
              </a:srgbClr>
            </a:outerShdw>
          </a:effectLst>
        </p:spPr>
      </p:sp>
      <p:sp>
        <p:nvSpPr>
          <p:cNvPr id="6" name="Shape 4"/>
          <p:cNvSpPr/>
          <p:nvPr/>
        </p:nvSpPr>
        <p:spPr>
          <a:xfrm>
            <a:off x="7498080" y="2020824"/>
            <a:ext cx="530352" cy="530352"/>
          </a:xfrm>
          <a:prstGeom prst="ellipse">
            <a:avLst/>
          </a:prstGeom>
          <a:solidFill>
            <a:srgbClr val="D97706"/>
          </a:solidFill>
          <a:ln/>
        </p:spPr>
      </p:sp>
      <p:pic>
        <p:nvPicPr>
          <p:cNvPr id="7" name="Image 0" descr="preencoded.png">    </p:cNvPr>
          <p:cNvPicPr>
            <a:picLocks noChangeAspect="1"/>
          </p:cNvPicPr>
          <p:nvPr/>
        </p:nvPicPr>
        <p:blipFill>
          <a:blip r:embed="rId1"/>
          <a:stretch>
            <a:fillRect/>
          </a:stretch>
        </p:blipFill>
        <p:spPr>
          <a:xfrm>
            <a:off x="7616952" y="2139696"/>
            <a:ext cx="292608" cy="292608"/>
          </a:xfrm>
          <a:prstGeom prst="rect">
            <a:avLst/>
          </a:prstGeom>
        </p:spPr>
      </p:pic>
      <p:sp>
        <p:nvSpPr>
          <p:cNvPr id="8" name="Text 5"/>
          <p:cNvSpPr/>
          <p:nvPr/>
        </p:nvSpPr>
        <p:spPr>
          <a:xfrm>
            <a:off x="8183880" y="1965960"/>
            <a:ext cx="3063240" cy="365760"/>
          </a:xfrm>
          <a:prstGeom prst="rect">
            <a:avLst/>
          </a:prstGeom>
          <a:noFill/>
          <a:ln/>
        </p:spPr>
        <p:txBody>
          <a:bodyPr wrap="square" lIns="0" tIns="0" rIns="0" bIns="0" rtlCol="0" anchor="ctr"/>
          <a:lstStyle/>
          <a:p>
            <a:pPr indent="0" marL="0">
              <a:buNone/>
            </a:pPr>
            <a:r>
              <a:rPr lang="en-US" sz="1550" b="1" dirty="0">
                <a:solidFill>
                  <a:srgbClr val="0F172A"/>
                </a:solidFill>
                <a:latin typeface="Trebuchet MS" pitchFamily="34" charset="0"/>
                <a:ea typeface="Trebuchet MS" pitchFamily="34" charset="-122"/>
                <a:cs typeface="Trebuchet MS" pitchFamily="34" charset="-120"/>
              </a:rPr>
              <a:t>Slow at volume</a:t>
            </a:r>
            <a:endParaRPr lang="en-US" sz="1550" dirty="0"/>
          </a:p>
        </p:txBody>
      </p:sp>
      <p:sp>
        <p:nvSpPr>
          <p:cNvPr id="9" name="Text 6"/>
          <p:cNvSpPr/>
          <p:nvPr/>
        </p:nvSpPr>
        <p:spPr>
          <a:xfrm>
            <a:off x="8183880" y="2313432"/>
            <a:ext cx="3063240" cy="640080"/>
          </a:xfrm>
          <a:prstGeom prst="rect">
            <a:avLst/>
          </a:prstGeom>
          <a:noFill/>
          <a:ln/>
        </p:spPr>
        <p:txBody>
          <a:bodyPr wrap="square" lIns="0" tIns="0" rIns="0" bIns="0" rtlCol="0" anchor="ctr"/>
          <a:lstStyle/>
          <a:p>
            <a:pPr indent="0" marL="0">
              <a:lnSpc>
                <a:spcPts val="1600"/>
              </a:lnSpc>
              <a:buNone/>
            </a:pPr>
            <a:r>
              <a:rPr lang="en-US" sz="1250" dirty="0">
                <a:solidFill>
                  <a:srgbClr val="64748B"/>
                </a:solidFill>
                <a:latin typeface="Calibri" pitchFamily="34" charset="0"/>
                <a:ea typeface="Calibri" pitchFamily="34" charset="-122"/>
                <a:cs typeface="Calibri" pitchFamily="34" charset="-120"/>
              </a:rPr>
              <a:t>Manual entry can't keep up as the portfolio grows.</a:t>
            </a:r>
            <a:endParaRPr lang="en-US" sz="1250" dirty="0"/>
          </a:p>
        </p:txBody>
      </p:sp>
      <p:sp>
        <p:nvSpPr>
          <p:cNvPr id="10" name="Shape 7"/>
          <p:cNvSpPr/>
          <p:nvPr/>
        </p:nvSpPr>
        <p:spPr>
          <a:xfrm>
            <a:off x="7269480" y="3200400"/>
            <a:ext cx="4069080" cy="1280160"/>
          </a:xfrm>
          <a:prstGeom prst="roundRect">
            <a:avLst>
              <a:gd name="adj" fmla="val 7143"/>
            </a:avLst>
          </a:prstGeom>
          <a:solidFill>
            <a:srgbClr val="FFFFFF"/>
          </a:solidFill>
          <a:ln w="12700">
            <a:solidFill>
              <a:srgbClr val="E6EBF2"/>
            </a:solidFill>
            <a:prstDash val="solid"/>
          </a:ln>
          <a:effectLst>
            <a:outerShdw sx="100000" sy="100000" kx="0" ky="0" algn="bl" rotWithShape="0" blurRad="114300" dist="38100" dir="5400000">
              <a:srgbClr val="1E293B">
                <a:alpha val="12000"/>
              </a:srgbClr>
            </a:outerShdw>
          </a:effectLst>
        </p:spPr>
      </p:sp>
      <p:sp>
        <p:nvSpPr>
          <p:cNvPr id="11" name="Shape 8"/>
          <p:cNvSpPr/>
          <p:nvPr/>
        </p:nvSpPr>
        <p:spPr>
          <a:xfrm>
            <a:off x="7498080" y="3438144"/>
            <a:ext cx="530352" cy="530352"/>
          </a:xfrm>
          <a:prstGeom prst="ellipse">
            <a:avLst/>
          </a:prstGeom>
          <a:solidFill>
            <a:srgbClr val="DC2626"/>
          </a:solidFill>
          <a:ln/>
        </p:spPr>
      </p:sp>
      <p:pic>
        <p:nvPicPr>
          <p:cNvPr id="12" name="Image 1" descr="preencoded.png">    </p:cNvPr>
          <p:cNvPicPr>
            <a:picLocks noChangeAspect="1"/>
          </p:cNvPicPr>
          <p:nvPr/>
        </p:nvPicPr>
        <p:blipFill>
          <a:blip r:embed="rId2"/>
          <a:stretch>
            <a:fillRect/>
          </a:stretch>
        </p:blipFill>
        <p:spPr>
          <a:xfrm>
            <a:off x="7616952" y="3557016"/>
            <a:ext cx="292608" cy="292608"/>
          </a:xfrm>
          <a:prstGeom prst="rect">
            <a:avLst/>
          </a:prstGeom>
        </p:spPr>
      </p:pic>
      <p:sp>
        <p:nvSpPr>
          <p:cNvPr id="13" name="Text 9"/>
          <p:cNvSpPr/>
          <p:nvPr/>
        </p:nvSpPr>
        <p:spPr>
          <a:xfrm>
            <a:off x="8183880" y="3383280"/>
            <a:ext cx="3063240" cy="365760"/>
          </a:xfrm>
          <a:prstGeom prst="rect">
            <a:avLst/>
          </a:prstGeom>
          <a:noFill/>
          <a:ln/>
        </p:spPr>
        <p:txBody>
          <a:bodyPr wrap="square" lIns="0" tIns="0" rIns="0" bIns="0" rtlCol="0" anchor="ctr"/>
          <a:lstStyle/>
          <a:p>
            <a:pPr indent="0" marL="0">
              <a:buNone/>
            </a:pPr>
            <a:r>
              <a:rPr lang="en-US" sz="1550" b="1" dirty="0">
                <a:solidFill>
                  <a:srgbClr val="0F172A"/>
                </a:solidFill>
                <a:latin typeface="Trebuchet MS" pitchFamily="34" charset="0"/>
                <a:ea typeface="Trebuchet MS" pitchFamily="34" charset="-122"/>
                <a:cs typeface="Trebuchet MS" pitchFamily="34" charset="-120"/>
              </a:rPr>
              <a:t>Costly mistakes slip through</a:t>
            </a:r>
            <a:endParaRPr lang="en-US" sz="1550" dirty="0"/>
          </a:p>
        </p:txBody>
      </p:sp>
      <p:sp>
        <p:nvSpPr>
          <p:cNvPr id="14" name="Text 10"/>
          <p:cNvSpPr/>
          <p:nvPr/>
        </p:nvSpPr>
        <p:spPr>
          <a:xfrm>
            <a:off x="8183880" y="3730752"/>
            <a:ext cx="3063240" cy="640080"/>
          </a:xfrm>
          <a:prstGeom prst="rect">
            <a:avLst/>
          </a:prstGeom>
          <a:noFill/>
          <a:ln/>
        </p:spPr>
        <p:txBody>
          <a:bodyPr wrap="square" lIns="0" tIns="0" rIns="0" bIns="0" rtlCol="0" anchor="ctr"/>
          <a:lstStyle/>
          <a:p>
            <a:pPr indent="0" marL="0">
              <a:lnSpc>
                <a:spcPts val="1600"/>
              </a:lnSpc>
              <a:buNone/>
            </a:pPr>
            <a:r>
              <a:rPr lang="en-US" sz="1250" dirty="0">
                <a:solidFill>
                  <a:srgbClr val="64748B"/>
                </a:solidFill>
                <a:latin typeface="Calibri" pitchFamily="34" charset="0"/>
                <a:ea typeface="Calibri" pitchFamily="34" charset="-122"/>
                <a:cs typeface="Calibri" pitchFamily="34" charset="-120"/>
              </a:rPr>
              <a:t>An illegal deposit or missing signature is easy to miss.</a:t>
            </a:r>
            <a:endParaRPr lang="en-US" sz="1250" dirty="0"/>
          </a:p>
        </p:txBody>
      </p:sp>
      <p:sp>
        <p:nvSpPr>
          <p:cNvPr id="15" name="Shape 11"/>
          <p:cNvSpPr/>
          <p:nvPr/>
        </p:nvSpPr>
        <p:spPr>
          <a:xfrm>
            <a:off x="7269480" y="4617720"/>
            <a:ext cx="4069080" cy="1280160"/>
          </a:xfrm>
          <a:prstGeom prst="roundRect">
            <a:avLst>
              <a:gd name="adj" fmla="val 7143"/>
            </a:avLst>
          </a:prstGeom>
          <a:solidFill>
            <a:srgbClr val="FFFFFF"/>
          </a:solidFill>
          <a:ln w="12700">
            <a:solidFill>
              <a:srgbClr val="E6EBF2"/>
            </a:solidFill>
            <a:prstDash val="solid"/>
          </a:ln>
          <a:effectLst>
            <a:outerShdw sx="100000" sy="100000" kx="0" ky="0" algn="bl" rotWithShape="0" blurRad="114300" dist="38100" dir="5400000">
              <a:srgbClr val="1E293B">
                <a:alpha val="12000"/>
              </a:srgbClr>
            </a:outerShdw>
          </a:effectLst>
        </p:spPr>
      </p:sp>
      <p:sp>
        <p:nvSpPr>
          <p:cNvPr id="16" name="Shape 12"/>
          <p:cNvSpPr/>
          <p:nvPr/>
        </p:nvSpPr>
        <p:spPr>
          <a:xfrm>
            <a:off x="7498080" y="4855464"/>
            <a:ext cx="530352" cy="530352"/>
          </a:xfrm>
          <a:prstGeom prst="ellipse">
            <a:avLst/>
          </a:prstGeom>
          <a:solidFill>
            <a:srgbClr val="2563EB"/>
          </a:solidFill>
          <a:ln/>
        </p:spPr>
      </p:sp>
      <p:pic>
        <p:nvPicPr>
          <p:cNvPr id="17" name="Image 2" descr="preencoded.png">    </p:cNvPr>
          <p:cNvPicPr>
            <a:picLocks noChangeAspect="1"/>
          </p:cNvPicPr>
          <p:nvPr/>
        </p:nvPicPr>
        <p:blipFill>
          <a:blip r:embed="rId3"/>
          <a:stretch>
            <a:fillRect/>
          </a:stretch>
        </p:blipFill>
        <p:spPr>
          <a:xfrm>
            <a:off x="7616952" y="4974336"/>
            <a:ext cx="292608" cy="292608"/>
          </a:xfrm>
          <a:prstGeom prst="rect">
            <a:avLst/>
          </a:prstGeom>
        </p:spPr>
      </p:pic>
      <p:sp>
        <p:nvSpPr>
          <p:cNvPr id="18" name="Text 13"/>
          <p:cNvSpPr/>
          <p:nvPr/>
        </p:nvSpPr>
        <p:spPr>
          <a:xfrm>
            <a:off x="8183880" y="4800600"/>
            <a:ext cx="3063240" cy="365760"/>
          </a:xfrm>
          <a:prstGeom prst="rect">
            <a:avLst/>
          </a:prstGeom>
          <a:noFill/>
          <a:ln/>
        </p:spPr>
        <p:txBody>
          <a:bodyPr wrap="square" lIns="0" tIns="0" rIns="0" bIns="0" rtlCol="0" anchor="ctr"/>
          <a:lstStyle/>
          <a:p>
            <a:pPr indent="0" marL="0">
              <a:buNone/>
            </a:pPr>
            <a:r>
              <a:rPr lang="en-US" sz="1550" b="1" dirty="0">
                <a:solidFill>
                  <a:srgbClr val="0F172A"/>
                </a:solidFill>
                <a:latin typeface="Trebuchet MS" pitchFamily="34" charset="0"/>
                <a:ea typeface="Trebuchet MS" pitchFamily="34" charset="-122"/>
                <a:cs typeface="Trebuchet MS" pitchFamily="34" charset="-120"/>
              </a:rPr>
              <a:t>Every lease is different</a:t>
            </a:r>
            <a:endParaRPr lang="en-US" sz="1550" dirty="0"/>
          </a:p>
        </p:txBody>
      </p:sp>
      <p:sp>
        <p:nvSpPr>
          <p:cNvPr id="19" name="Text 14"/>
          <p:cNvSpPr/>
          <p:nvPr/>
        </p:nvSpPr>
        <p:spPr>
          <a:xfrm>
            <a:off x="8183880" y="5148072"/>
            <a:ext cx="3063240" cy="640080"/>
          </a:xfrm>
          <a:prstGeom prst="rect">
            <a:avLst/>
          </a:prstGeom>
          <a:noFill/>
          <a:ln/>
        </p:spPr>
        <p:txBody>
          <a:bodyPr wrap="square" lIns="0" tIns="0" rIns="0" bIns="0" rtlCol="0" anchor="ctr"/>
          <a:lstStyle/>
          <a:p>
            <a:pPr indent="0" marL="0">
              <a:lnSpc>
                <a:spcPts val="1600"/>
              </a:lnSpc>
              <a:buNone/>
            </a:pPr>
            <a:r>
              <a:rPr lang="en-US" sz="1250" dirty="0">
                <a:solidFill>
                  <a:srgbClr val="64748B"/>
                </a:solidFill>
                <a:latin typeface="Calibri" pitchFamily="34" charset="0"/>
                <a:ea typeface="Calibri" pitchFamily="34" charset="-122"/>
                <a:cs typeface="Calibri" pitchFamily="34" charset="-120"/>
              </a:rPr>
              <a:t>Free-text PDFs, scans, the occasional non-lease.</a:t>
            </a:r>
            <a:endParaRPr lang="en-US" sz="1250" dirty="0"/>
          </a:p>
        </p:txBody>
      </p:sp>
      <p:sp>
        <p:nvSpPr>
          <p:cNvPr id="20" name="Shape 15"/>
          <p:cNvSpPr/>
          <p:nvPr/>
        </p:nvSpPr>
        <p:spPr>
          <a:xfrm>
            <a:off x="822960" y="4114800"/>
            <a:ext cx="6126480" cy="1783080"/>
          </a:xfrm>
          <a:prstGeom prst="roundRect">
            <a:avLst>
              <a:gd name="adj" fmla="val 5128"/>
            </a:avLst>
          </a:prstGeom>
          <a:solidFill>
            <a:srgbClr val="EAF0FE"/>
          </a:solidFill>
          <a:ln w="12700">
            <a:solidFill>
              <a:srgbClr val="CFE0FB"/>
            </a:solidFill>
            <a:prstDash val="solid"/>
          </a:ln>
        </p:spPr>
      </p:sp>
      <p:sp>
        <p:nvSpPr>
          <p:cNvPr id="21" name="Shape 16"/>
          <p:cNvSpPr/>
          <p:nvPr/>
        </p:nvSpPr>
        <p:spPr>
          <a:xfrm>
            <a:off x="1097280" y="4389120"/>
            <a:ext cx="566928" cy="566928"/>
          </a:xfrm>
          <a:prstGeom prst="ellipse">
            <a:avLst/>
          </a:prstGeom>
          <a:solidFill>
            <a:srgbClr val="2563EB"/>
          </a:solidFill>
          <a:ln/>
        </p:spPr>
      </p:sp>
      <p:pic>
        <p:nvPicPr>
          <p:cNvPr id="22" name="Image 3" descr="preencoded.png">    </p:cNvPr>
          <p:cNvPicPr>
            <a:picLocks noChangeAspect="1"/>
          </p:cNvPicPr>
          <p:nvPr/>
        </p:nvPicPr>
        <p:blipFill>
          <a:blip r:embed="rId4"/>
          <a:stretch>
            <a:fillRect/>
          </a:stretch>
        </p:blipFill>
        <p:spPr>
          <a:xfrm>
            <a:off x="1250351" y="4542191"/>
            <a:ext cx="260787" cy="260787"/>
          </a:xfrm>
          <a:prstGeom prst="rect">
            <a:avLst/>
          </a:prstGeom>
        </p:spPr>
      </p:pic>
      <p:sp>
        <p:nvSpPr>
          <p:cNvPr id="23" name="Text 17"/>
          <p:cNvSpPr/>
          <p:nvPr/>
        </p:nvSpPr>
        <p:spPr>
          <a:xfrm>
            <a:off x="1874520" y="4407408"/>
            <a:ext cx="4572000" cy="365760"/>
          </a:xfrm>
          <a:prstGeom prst="rect">
            <a:avLst/>
          </a:prstGeom>
          <a:noFill/>
          <a:ln/>
        </p:spPr>
        <p:txBody>
          <a:bodyPr wrap="square" lIns="0" tIns="0" rIns="0" bIns="0" rtlCol="0" anchor="ctr"/>
          <a:lstStyle/>
          <a:p>
            <a:pPr indent="0" marL="0">
              <a:buNone/>
            </a:pPr>
            <a:r>
              <a:rPr lang="en-US" sz="1500" b="1" dirty="0">
                <a:solidFill>
                  <a:srgbClr val="1D4ED8"/>
                </a:solidFill>
                <a:latin typeface="Trebuchet MS" pitchFamily="34" charset="0"/>
                <a:ea typeface="Trebuchet MS" pitchFamily="34" charset="-122"/>
                <a:cs typeface="Trebuchet MS" pitchFamily="34" charset="-120"/>
              </a:rPr>
              <a:t>Who it's for</a:t>
            </a:r>
            <a:endParaRPr lang="en-US" sz="1500" dirty="0"/>
          </a:p>
        </p:txBody>
      </p:sp>
      <p:sp>
        <p:nvSpPr>
          <p:cNvPr id="24" name="Text 18"/>
          <p:cNvSpPr/>
          <p:nvPr/>
        </p:nvSpPr>
        <p:spPr>
          <a:xfrm>
            <a:off x="1097280" y="4800600"/>
            <a:ext cx="5577840" cy="1005840"/>
          </a:xfrm>
          <a:prstGeom prst="rect">
            <a:avLst/>
          </a:prstGeom>
          <a:noFill/>
          <a:ln/>
        </p:spPr>
        <p:txBody>
          <a:bodyPr wrap="square" lIns="0" tIns="0" rIns="0" bIns="0" rtlCol="0" anchor="ctr"/>
          <a:lstStyle/>
          <a:p>
            <a:pPr indent="0" marL="0">
              <a:lnSpc>
                <a:spcPts val="2000"/>
              </a:lnSpc>
              <a:buNone/>
            </a:pPr>
            <a:r>
              <a:rPr lang="en-US" sz="1400" dirty="0">
                <a:solidFill>
                  <a:srgbClr val="334155"/>
                </a:solidFill>
                <a:latin typeface="Calibri" pitchFamily="34" charset="0"/>
                <a:ea typeface="Calibri" pitchFamily="34" charset="-122"/>
                <a:cs typeface="Calibri" pitchFamily="34" charset="-120"/>
              </a:rPr>
              <a:t>Leasing teams that process leases in bulk, and the property-management platforms they run on. Clean leases pass through automatically, so people only review the exceptions.</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822960" y="640080"/>
            <a:ext cx="8229600" cy="274320"/>
          </a:xfrm>
          <a:prstGeom prst="rect">
            <a:avLst/>
          </a:prstGeom>
          <a:noFill/>
          <a:ln/>
        </p:spPr>
        <p:txBody>
          <a:bodyPr wrap="square" lIns="0" tIns="0" rIns="0" bIns="0" rtlCol="0" anchor="ctr"/>
          <a:lstStyle/>
          <a:p>
            <a:pPr indent="0" marL="0">
              <a:buNone/>
            </a:pPr>
            <a:r>
              <a:rPr lang="en-US" sz="1200" b="1" spc="300" kern="0" dirty="0">
                <a:solidFill>
                  <a:srgbClr val="2563EB"/>
                </a:solidFill>
                <a:latin typeface="Trebuchet MS" pitchFamily="34" charset="0"/>
                <a:ea typeface="Trebuchet MS" pitchFamily="34" charset="-122"/>
                <a:cs typeface="Trebuchet MS" pitchFamily="34" charset="-120"/>
              </a:rPr>
              <a:t>HOW IT WORKS</a:t>
            </a:r>
            <a:endParaRPr lang="en-US" sz="1200" dirty="0"/>
          </a:p>
        </p:txBody>
      </p:sp>
      <p:sp>
        <p:nvSpPr>
          <p:cNvPr id="3" name="Text 1"/>
          <p:cNvSpPr/>
          <p:nvPr/>
        </p:nvSpPr>
        <p:spPr>
          <a:xfrm>
            <a:off x="822960" y="960120"/>
            <a:ext cx="10058400" cy="822960"/>
          </a:xfrm>
          <a:prstGeom prst="rect">
            <a:avLst/>
          </a:prstGeom>
          <a:noFill/>
          <a:ln/>
        </p:spPr>
        <p:txBody>
          <a:bodyPr wrap="square" lIns="0" tIns="0" rIns="0" bIns="0" rtlCol="0" anchor="ctr"/>
          <a:lstStyle/>
          <a:p>
            <a:pPr indent="0" marL="0">
              <a:buNone/>
            </a:pPr>
            <a:r>
              <a:rPr lang="en-US" sz="3300" b="1" dirty="0">
                <a:solidFill>
                  <a:srgbClr val="0F172A"/>
                </a:solidFill>
                <a:latin typeface="Trebuchet MS" pitchFamily="34" charset="0"/>
                <a:ea typeface="Trebuchet MS" pitchFamily="34" charset="-122"/>
                <a:cs typeface="Trebuchet MS" pitchFamily="34" charset="-120"/>
              </a:rPr>
              <a:t>Every lease runs the same six steps</a:t>
            </a:r>
            <a:endParaRPr lang="en-US" sz="3300" dirty="0"/>
          </a:p>
        </p:txBody>
      </p:sp>
      <p:sp>
        <p:nvSpPr>
          <p:cNvPr id="4" name="Text 2"/>
          <p:cNvSpPr/>
          <p:nvPr/>
        </p:nvSpPr>
        <p:spPr>
          <a:xfrm>
            <a:off x="822960" y="1783080"/>
            <a:ext cx="10515600" cy="457200"/>
          </a:xfrm>
          <a:prstGeom prst="rect">
            <a:avLst/>
          </a:prstGeom>
          <a:noFill/>
          <a:ln/>
        </p:spPr>
        <p:txBody>
          <a:bodyPr wrap="square" lIns="0" tIns="0" rIns="0" bIns="0" rtlCol="0" anchor="ctr"/>
          <a:lstStyle/>
          <a:p>
            <a:pPr indent="0" marL="0">
              <a:buNone/>
            </a:pPr>
            <a:r>
              <a:rPr lang="en-US" sz="1600" dirty="0">
                <a:solidFill>
                  <a:srgbClr val="334155"/>
                </a:solidFill>
                <a:latin typeface="Calibri" pitchFamily="34" charset="0"/>
                <a:ea typeface="Calibri" pitchFamily="34" charset="-122"/>
                <a:cs typeface="Calibri" pitchFamily="34" charset="-120"/>
              </a:rPr>
              <a:t>Automatic up to the last step. A person only comes in to confirm or override what was flagged.</a:t>
            </a:r>
            <a:endParaRPr lang="en-US" sz="1600" dirty="0"/>
          </a:p>
        </p:txBody>
      </p:sp>
      <p:sp>
        <p:nvSpPr>
          <p:cNvPr id="5" name="Shape 3"/>
          <p:cNvSpPr/>
          <p:nvPr/>
        </p:nvSpPr>
        <p:spPr>
          <a:xfrm>
            <a:off x="822960" y="2468880"/>
            <a:ext cx="1700784" cy="2240280"/>
          </a:xfrm>
          <a:prstGeom prst="roundRect">
            <a:avLst>
              <a:gd name="adj" fmla="val 5376"/>
            </a:avLst>
          </a:prstGeom>
          <a:solidFill>
            <a:srgbClr val="FFFFFF"/>
          </a:solidFill>
          <a:ln w="12700">
            <a:solidFill>
              <a:srgbClr val="E6EBF2"/>
            </a:solidFill>
            <a:prstDash val="solid"/>
          </a:ln>
          <a:effectLst>
            <a:outerShdw sx="100000" sy="100000" kx="0" ky="0" algn="bl" rotWithShape="0" blurRad="114300" dist="38100" dir="5400000">
              <a:srgbClr val="1E293B">
                <a:alpha val="12000"/>
              </a:srgbClr>
            </a:outerShdw>
          </a:effectLst>
        </p:spPr>
      </p:sp>
      <p:sp>
        <p:nvSpPr>
          <p:cNvPr id="6" name="Shape 4"/>
          <p:cNvSpPr/>
          <p:nvPr/>
        </p:nvSpPr>
        <p:spPr>
          <a:xfrm>
            <a:off x="1078992" y="2743200"/>
            <a:ext cx="676656" cy="676656"/>
          </a:xfrm>
          <a:prstGeom prst="ellipse">
            <a:avLst/>
          </a:prstGeom>
          <a:solidFill>
            <a:srgbClr val="2563EB"/>
          </a:solidFill>
          <a:ln/>
        </p:spPr>
      </p:sp>
      <p:pic>
        <p:nvPicPr>
          <p:cNvPr id="7" name="Image 0" descr="preencoded.png">    </p:cNvPr>
          <p:cNvPicPr>
            <a:picLocks noChangeAspect="1"/>
          </p:cNvPicPr>
          <p:nvPr/>
        </p:nvPicPr>
        <p:blipFill>
          <a:blip r:embed="rId1"/>
          <a:stretch>
            <a:fillRect/>
          </a:stretch>
        </p:blipFill>
        <p:spPr>
          <a:xfrm>
            <a:off x="1261689" y="2925897"/>
            <a:ext cx="311262" cy="311262"/>
          </a:xfrm>
          <a:prstGeom prst="rect">
            <a:avLst/>
          </a:prstGeom>
        </p:spPr>
      </p:pic>
      <p:sp>
        <p:nvSpPr>
          <p:cNvPr id="8" name="Text 5"/>
          <p:cNvSpPr/>
          <p:nvPr/>
        </p:nvSpPr>
        <p:spPr>
          <a:xfrm>
            <a:off x="1956816" y="2706624"/>
            <a:ext cx="411480" cy="411480"/>
          </a:xfrm>
          <a:prstGeom prst="rect">
            <a:avLst/>
          </a:prstGeom>
          <a:noFill/>
          <a:ln/>
        </p:spPr>
        <p:txBody>
          <a:bodyPr wrap="square" lIns="0" tIns="0" rIns="0" bIns="0" rtlCol="0" anchor="ctr"/>
          <a:lstStyle/>
          <a:p>
            <a:pPr algn="r" indent="0" marL="0">
              <a:buNone/>
            </a:pPr>
            <a:r>
              <a:rPr lang="en-US" sz="2000" b="1" dirty="0">
                <a:solidFill>
                  <a:srgbClr val="E6EBF2"/>
                </a:solidFill>
                <a:latin typeface="Trebuchet MS" pitchFamily="34" charset="0"/>
                <a:ea typeface="Trebuchet MS" pitchFamily="34" charset="-122"/>
                <a:cs typeface="Trebuchet MS" pitchFamily="34" charset="-120"/>
              </a:rPr>
              <a:t>1</a:t>
            </a:r>
            <a:endParaRPr lang="en-US" sz="2000" dirty="0"/>
          </a:p>
        </p:txBody>
      </p:sp>
      <p:sp>
        <p:nvSpPr>
          <p:cNvPr id="9" name="Text 6"/>
          <p:cNvSpPr/>
          <p:nvPr/>
        </p:nvSpPr>
        <p:spPr>
          <a:xfrm>
            <a:off x="1005840" y="3566160"/>
            <a:ext cx="1335024" cy="365760"/>
          </a:xfrm>
          <a:prstGeom prst="rect">
            <a:avLst/>
          </a:prstGeom>
          <a:noFill/>
          <a:ln/>
        </p:spPr>
        <p:txBody>
          <a:bodyPr wrap="square" lIns="0" tIns="0" rIns="0" bIns="0" rtlCol="0" anchor="ctr"/>
          <a:lstStyle/>
          <a:p>
            <a:pPr indent="0" marL="0">
              <a:buNone/>
            </a:pPr>
            <a:r>
              <a:rPr lang="en-US" sz="1500" b="1" dirty="0">
                <a:solidFill>
                  <a:srgbClr val="0F172A"/>
                </a:solidFill>
                <a:latin typeface="Trebuchet MS" pitchFamily="34" charset="0"/>
                <a:ea typeface="Trebuchet MS" pitchFamily="34" charset="-122"/>
                <a:cs typeface="Trebuchet MS" pitchFamily="34" charset="-120"/>
              </a:rPr>
              <a:t>Classify</a:t>
            </a:r>
            <a:endParaRPr lang="en-US" sz="1500" dirty="0"/>
          </a:p>
        </p:txBody>
      </p:sp>
      <p:sp>
        <p:nvSpPr>
          <p:cNvPr id="10" name="Text 7"/>
          <p:cNvSpPr/>
          <p:nvPr/>
        </p:nvSpPr>
        <p:spPr>
          <a:xfrm>
            <a:off x="1005840" y="3931920"/>
            <a:ext cx="1380744" cy="640080"/>
          </a:xfrm>
          <a:prstGeom prst="rect">
            <a:avLst/>
          </a:prstGeom>
          <a:noFill/>
          <a:ln/>
        </p:spPr>
        <p:txBody>
          <a:bodyPr wrap="square" lIns="0" tIns="0" rIns="0" bIns="0" rtlCol="0" anchor="ctr"/>
          <a:lstStyle/>
          <a:p>
            <a:pPr indent="0" marL="0">
              <a:lnSpc>
                <a:spcPts val="1500"/>
              </a:lnSpc>
              <a:buNone/>
            </a:pPr>
            <a:r>
              <a:rPr lang="en-US" sz="1150" dirty="0">
                <a:solidFill>
                  <a:srgbClr val="64748B"/>
                </a:solidFill>
                <a:latin typeface="Calibri" pitchFamily="34" charset="0"/>
                <a:ea typeface="Calibri" pitchFamily="34" charset="-122"/>
                <a:cs typeface="Calibri" pitchFamily="34" charset="-120"/>
              </a:rPr>
              <a:t>Bounce non-leases early.</a:t>
            </a:r>
            <a:endParaRPr lang="en-US" sz="1150" dirty="0"/>
          </a:p>
        </p:txBody>
      </p:sp>
      <p:sp>
        <p:nvSpPr>
          <p:cNvPr id="11" name="Shape 8"/>
          <p:cNvSpPr/>
          <p:nvPr/>
        </p:nvSpPr>
        <p:spPr>
          <a:xfrm>
            <a:off x="2542032" y="3081528"/>
            <a:ext cx="128016" cy="0"/>
          </a:xfrm>
          <a:prstGeom prst="line">
            <a:avLst/>
          </a:prstGeom>
          <a:noFill/>
          <a:ln w="19050">
            <a:solidFill>
              <a:srgbClr val="C2D2EA"/>
            </a:solidFill>
            <a:prstDash val="solid"/>
          </a:ln>
        </p:spPr>
      </p:sp>
      <p:sp>
        <p:nvSpPr>
          <p:cNvPr id="12" name="Shape 9"/>
          <p:cNvSpPr/>
          <p:nvPr/>
        </p:nvSpPr>
        <p:spPr>
          <a:xfrm>
            <a:off x="2688336" y="2468880"/>
            <a:ext cx="1700784" cy="2240280"/>
          </a:xfrm>
          <a:prstGeom prst="roundRect">
            <a:avLst>
              <a:gd name="adj" fmla="val 5376"/>
            </a:avLst>
          </a:prstGeom>
          <a:solidFill>
            <a:srgbClr val="FFFFFF"/>
          </a:solidFill>
          <a:ln w="12700">
            <a:solidFill>
              <a:srgbClr val="E6EBF2"/>
            </a:solidFill>
            <a:prstDash val="solid"/>
          </a:ln>
          <a:effectLst>
            <a:outerShdw sx="100000" sy="100000" kx="0" ky="0" algn="bl" rotWithShape="0" blurRad="114300" dist="38100" dir="5400000">
              <a:srgbClr val="1E293B">
                <a:alpha val="12000"/>
              </a:srgbClr>
            </a:outerShdw>
          </a:effectLst>
        </p:spPr>
      </p:sp>
      <p:sp>
        <p:nvSpPr>
          <p:cNvPr id="13" name="Shape 10"/>
          <p:cNvSpPr/>
          <p:nvPr/>
        </p:nvSpPr>
        <p:spPr>
          <a:xfrm>
            <a:off x="2944368" y="2743200"/>
            <a:ext cx="676656" cy="676656"/>
          </a:xfrm>
          <a:prstGeom prst="ellipse">
            <a:avLst/>
          </a:prstGeom>
          <a:solidFill>
            <a:srgbClr val="7C3AED"/>
          </a:solidFill>
          <a:ln/>
        </p:spPr>
      </p:sp>
      <p:pic>
        <p:nvPicPr>
          <p:cNvPr id="14" name="Image 1" descr="preencoded.png">    </p:cNvPr>
          <p:cNvPicPr>
            <a:picLocks noChangeAspect="1"/>
          </p:cNvPicPr>
          <p:nvPr/>
        </p:nvPicPr>
        <p:blipFill>
          <a:blip r:embed="rId2"/>
          <a:stretch>
            <a:fillRect/>
          </a:stretch>
        </p:blipFill>
        <p:spPr>
          <a:xfrm>
            <a:off x="3127065" y="2925897"/>
            <a:ext cx="311262" cy="311262"/>
          </a:xfrm>
          <a:prstGeom prst="rect">
            <a:avLst/>
          </a:prstGeom>
        </p:spPr>
      </p:pic>
      <p:sp>
        <p:nvSpPr>
          <p:cNvPr id="15" name="Text 11"/>
          <p:cNvSpPr/>
          <p:nvPr/>
        </p:nvSpPr>
        <p:spPr>
          <a:xfrm>
            <a:off x="3822192" y="2706624"/>
            <a:ext cx="411480" cy="411480"/>
          </a:xfrm>
          <a:prstGeom prst="rect">
            <a:avLst/>
          </a:prstGeom>
          <a:noFill/>
          <a:ln/>
        </p:spPr>
        <p:txBody>
          <a:bodyPr wrap="square" lIns="0" tIns="0" rIns="0" bIns="0" rtlCol="0" anchor="ctr"/>
          <a:lstStyle/>
          <a:p>
            <a:pPr algn="r" indent="0" marL="0">
              <a:buNone/>
            </a:pPr>
            <a:r>
              <a:rPr lang="en-US" sz="2000" b="1" dirty="0">
                <a:solidFill>
                  <a:srgbClr val="E6EBF2"/>
                </a:solidFill>
                <a:latin typeface="Trebuchet MS" pitchFamily="34" charset="0"/>
                <a:ea typeface="Trebuchet MS" pitchFamily="34" charset="-122"/>
                <a:cs typeface="Trebuchet MS" pitchFamily="34" charset="-120"/>
              </a:rPr>
              <a:t>2</a:t>
            </a:r>
            <a:endParaRPr lang="en-US" sz="2000" dirty="0"/>
          </a:p>
        </p:txBody>
      </p:sp>
      <p:sp>
        <p:nvSpPr>
          <p:cNvPr id="16" name="Text 12"/>
          <p:cNvSpPr/>
          <p:nvPr/>
        </p:nvSpPr>
        <p:spPr>
          <a:xfrm>
            <a:off x="2871216" y="3566160"/>
            <a:ext cx="1335024" cy="365760"/>
          </a:xfrm>
          <a:prstGeom prst="rect">
            <a:avLst/>
          </a:prstGeom>
          <a:noFill/>
          <a:ln/>
        </p:spPr>
        <p:txBody>
          <a:bodyPr wrap="square" lIns="0" tIns="0" rIns="0" bIns="0" rtlCol="0" anchor="ctr"/>
          <a:lstStyle/>
          <a:p>
            <a:pPr indent="0" marL="0">
              <a:buNone/>
            </a:pPr>
            <a:r>
              <a:rPr lang="en-US" sz="1500" b="1" dirty="0">
                <a:solidFill>
                  <a:srgbClr val="0F172A"/>
                </a:solidFill>
                <a:latin typeface="Trebuchet MS" pitchFamily="34" charset="0"/>
                <a:ea typeface="Trebuchet MS" pitchFamily="34" charset="-122"/>
                <a:cs typeface="Trebuchet MS" pitchFamily="34" charset="-120"/>
              </a:rPr>
              <a:t>Gate-check</a:t>
            </a:r>
            <a:endParaRPr lang="en-US" sz="1500" dirty="0"/>
          </a:p>
        </p:txBody>
      </p:sp>
      <p:sp>
        <p:nvSpPr>
          <p:cNvPr id="17" name="Text 13"/>
          <p:cNvSpPr/>
          <p:nvPr/>
        </p:nvSpPr>
        <p:spPr>
          <a:xfrm>
            <a:off x="2871216" y="3931920"/>
            <a:ext cx="1380744" cy="640080"/>
          </a:xfrm>
          <a:prstGeom prst="rect">
            <a:avLst/>
          </a:prstGeom>
          <a:noFill/>
          <a:ln/>
        </p:spPr>
        <p:txBody>
          <a:bodyPr wrap="square" lIns="0" tIns="0" rIns="0" bIns="0" rtlCol="0" anchor="ctr"/>
          <a:lstStyle/>
          <a:p>
            <a:pPr indent="0" marL="0">
              <a:lnSpc>
                <a:spcPts val="1500"/>
              </a:lnSpc>
              <a:buNone/>
            </a:pPr>
            <a:r>
              <a:rPr lang="en-US" sz="1150" dirty="0">
                <a:solidFill>
                  <a:srgbClr val="64748B"/>
                </a:solidFill>
                <a:latin typeface="Calibri" pitchFamily="34" charset="0"/>
                <a:ea typeface="Calibri" pitchFamily="34" charset="-122"/>
                <a:cs typeface="Calibri" pitchFamily="34" charset="-120"/>
              </a:rPr>
              <a:t>Fail fast; OCR scans.</a:t>
            </a:r>
            <a:endParaRPr lang="en-US" sz="1150" dirty="0"/>
          </a:p>
        </p:txBody>
      </p:sp>
      <p:sp>
        <p:nvSpPr>
          <p:cNvPr id="18" name="Shape 14"/>
          <p:cNvSpPr/>
          <p:nvPr/>
        </p:nvSpPr>
        <p:spPr>
          <a:xfrm>
            <a:off x="4407408" y="3081528"/>
            <a:ext cx="128016" cy="0"/>
          </a:xfrm>
          <a:prstGeom prst="line">
            <a:avLst/>
          </a:prstGeom>
          <a:noFill/>
          <a:ln w="19050">
            <a:solidFill>
              <a:srgbClr val="C2D2EA"/>
            </a:solidFill>
            <a:prstDash val="solid"/>
          </a:ln>
        </p:spPr>
      </p:sp>
      <p:sp>
        <p:nvSpPr>
          <p:cNvPr id="19" name="Shape 15"/>
          <p:cNvSpPr/>
          <p:nvPr/>
        </p:nvSpPr>
        <p:spPr>
          <a:xfrm>
            <a:off x="4553712" y="2468880"/>
            <a:ext cx="1700784" cy="2240280"/>
          </a:xfrm>
          <a:prstGeom prst="roundRect">
            <a:avLst>
              <a:gd name="adj" fmla="val 5376"/>
            </a:avLst>
          </a:prstGeom>
          <a:solidFill>
            <a:srgbClr val="FFFFFF"/>
          </a:solidFill>
          <a:ln w="12700">
            <a:solidFill>
              <a:srgbClr val="E6EBF2"/>
            </a:solidFill>
            <a:prstDash val="solid"/>
          </a:ln>
          <a:effectLst>
            <a:outerShdw sx="100000" sy="100000" kx="0" ky="0" algn="bl" rotWithShape="0" blurRad="114300" dist="38100" dir="5400000">
              <a:srgbClr val="1E293B">
                <a:alpha val="12000"/>
              </a:srgbClr>
            </a:outerShdw>
          </a:effectLst>
        </p:spPr>
      </p:sp>
      <p:sp>
        <p:nvSpPr>
          <p:cNvPr id="20" name="Shape 16"/>
          <p:cNvSpPr/>
          <p:nvPr/>
        </p:nvSpPr>
        <p:spPr>
          <a:xfrm>
            <a:off x="4809744" y="2743200"/>
            <a:ext cx="676656" cy="676656"/>
          </a:xfrm>
          <a:prstGeom prst="ellipse">
            <a:avLst/>
          </a:prstGeom>
          <a:solidFill>
            <a:srgbClr val="2563EB"/>
          </a:solidFill>
          <a:ln/>
        </p:spPr>
      </p:sp>
      <p:pic>
        <p:nvPicPr>
          <p:cNvPr id="21" name="Image 2" descr="preencoded.png">    </p:cNvPr>
          <p:cNvPicPr>
            <a:picLocks noChangeAspect="1"/>
          </p:cNvPicPr>
          <p:nvPr/>
        </p:nvPicPr>
        <p:blipFill>
          <a:blip r:embed="rId3"/>
          <a:stretch>
            <a:fillRect/>
          </a:stretch>
        </p:blipFill>
        <p:spPr>
          <a:xfrm>
            <a:off x="4992441" y="2925897"/>
            <a:ext cx="311262" cy="311262"/>
          </a:xfrm>
          <a:prstGeom prst="rect">
            <a:avLst/>
          </a:prstGeom>
        </p:spPr>
      </p:pic>
      <p:sp>
        <p:nvSpPr>
          <p:cNvPr id="22" name="Text 17"/>
          <p:cNvSpPr/>
          <p:nvPr/>
        </p:nvSpPr>
        <p:spPr>
          <a:xfrm>
            <a:off x="5687568" y="2706624"/>
            <a:ext cx="411480" cy="411480"/>
          </a:xfrm>
          <a:prstGeom prst="rect">
            <a:avLst/>
          </a:prstGeom>
          <a:noFill/>
          <a:ln/>
        </p:spPr>
        <p:txBody>
          <a:bodyPr wrap="square" lIns="0" tIns="0" rIns="0" bIns="0" rtlCol="0" anchor="ctr"/>
          <a:lstStyle/>
          <a:p>
            <a:pPr algn="r" indent="0" marL="0">
              <a:buNone/>
            </a:pPr>
            <a:r>
              <a:rPr lang="en-US" sz="2000" b="1" dirty="0">
                <a:solidFill>
                  <a:srgbClr val="E6EBF2"/>
                </a:solidFill>
                <a:latin typeface="Trebuchet MS" pitchFamily="34" charset="0"/>
                <a:ea typeface="Trebuchet MS" pitchFamily="34" charset="-122"/>
                <a:cs typeface="Trebuchet MS" pitchFamily="34" charset="-120"/>
              </a:rPr>
              <a:t>3</a:t>
            </a:r>
            <a:endParaRPr lang="en-US" sz="2000" dirty="0"/>
          </a:p>
        </p:txBody>
      </p:sp>
      <p:sp>
        <p:nvSpPr>
          <p:cNvPr id="23" name="Text 18"/>
          <p:cNvSpPr/>
          <p:nvPr/>
        </p:nvSpPr>
        <p:spPr>
          <a:xfrm>
            <a:off x="4736592" y="3566160"/>
            <a:ext cx="1335024" cy="365760"/>
          </a:xfrm>
          <a:prstGeom prst="rect">
            <a:avLst/>
          </a:prstGeom>
          <a:noFill/>
          <a:ln/>
        </p:spPr>
        <p:txBody>
          <a:bodyPr wrap="square" lIns="0" tIns="0" rIns="0" bIns="0" rtlCol="0" anchor="ctr"/>
          <a:lstStyle/>
          <a:p>
            <a:pPr indent="0" marL="0">
              <a:buNone/>
            </a:pPr>
            <a:r>
              <a:rPr lang="en-US" sz="1500" b="1" dirty="0">
                <a:solidFill>
                  <a:srgbClr val="0F172A"/>
                </a:solidFill>
                <a:latin typeface="Trebuchet MS" pitchFamily="34" charset="0"/>
                <a:ea typeface="Trebuchet MS" pitchFamily="34" charset="-122"/>
                <a:cs typeface="Trebuchet MS" pitchFamily="34" charset="-120"/>
              </a:rPr>
              <a:t>Extract</a:t>
            </a:r>
            <a:endParaRPr lang="en-US" sz="1500" dirty="0"/>
          </a:p>
        </p:txBody>
      </p:sp>
      <p:sp>
        <p:nvSpPr>
          <p:cNvPr id="24" name="Text 19"/>
          <p:cNvSpPr/>
          <p:nvPr/>
        </p:nvSpPr>
        <p:spPr>
          <a:xfrm>
            <a:off x="4736592" y="3931920"/>
            <a:ext cx="1380744" cy="640080"/>
          </a:xfrm>
          <a:prstGeom prst="rect">
            <a:avLst/>
          </a:prstGeom>
          <a:noFill/>
          <a:ln/>
        </p:spPr>
        <p:txBody>
          <a:bodyPr wrap="square" lIns="0" tIns="0" rIns="0" bIns="0" rtlCol="0" anchor="ctr"/>
          <a:lstStyle/>
          <a:p>
            <a:pPr indent="0" marL="0">
              <a:lnSpc>
                <a:spcPts val="1500"/>
              </a:lnSpc>
              <a:buNone/>
            </a:pPr>
            <a:r>
              <a:rPr lang="en-US" sz="1150" dirty="0">
                <a:solidFill>
                  <a:srgbClr val="64748B"/>
                </a:solidFill>
                <a:latin typeface="Calibri" pitchFamily="34" charset="0"/>
                <a:ea typeface="Calibri" pitchFamily="34" charset="-122"/>
                <a:cs typeface="Calibri" pitchFamily="34" charset="-120"/>
              </a:rPr>
              <a:t>Pull terms from free text.</a:t>
            </a:r>
            <a:endParaRPr lang="en-US" sz="1150" dirty="0"/>
          </a:p>
        </p:txBody>
      </p:sp>
      <p:sp>
        <p:nvSpPr>
          <p:cNvPr id="25" name="Shape 20"/>
          <p:cNvSpPr/>
          <p:nvPr/>
        </p:nvSpPr>
        <p:spPr>
          <a:xfrm>
            <a:off x="6272784" y="3081528"/>
            <a:ext cx="128016" cy="0"/>
          </a:xfrm>
          <a:prstGeom prst="line">
            <a:avLst/>
          </a:prstGeom>
          <a:noFill/>
          <a:ln w="19050">
            <a:solidFill>
              <a:srgbClr val="C2D2EA"/>
            </a:solidFill>
            <a:prstDash val="solid"/>
          </a:ln>
        </p:spPr>
      </p:sp>
      <p:sp>
        <p:nvSpPr>
          <p:cNvPr id="26" name="Shape 21"/>
          <p:cNvSpPr/>
          <p:nvPr/>
        </p:nvSpPr>
        <p:spPr>
          <a:xfrm>
            <a:off x="6419088" y="2468880"/>
            <a:ext cx="1700784" cy="2240280"/>
          </a:xfrm>
          <a:prstGeom prst="roundRect">
            <a:avLst>
              <a:gd name="adj" fmla="val 5376"/>
            </a:avLst>
          </a:prstGeom>
          <a:solidFill>
            <a:srgbClr val="FFFFFF"/>
          </a:solidFill>
          <a:ln w="12700">
            <a:solidFill>
              <a:srgbClr val="E6EBF2"/>
            </a:solidFill>
            <a:prstDash val="solid"/>
          </a:ln>
          <a:effectLst>
            <a:outerShdw sx="100000" sy="100000" kx="0" ky="0" algn="bl" rotWithShape="0" blurRad="114300" dist="38100" dir="5400000">
              <a:srgbClr val="1E293B">
                <a:alpha val="12000"/>
              </a:srgbClr>
            </a:outerShdw>
          </a:effectLst>
        </p:spPr>
      </p:sp>
      <p:sp>
        <p:nvSpPr>
          <p:cNvPr id="27" name="Shape 22"/>
          <p:cNvSpPr/>
          <p:nvPr/>
        </p:nvSpPr>
        <p:spPr>
          <a:xfrm>
            <a:off x="6675120" y="2743200"/>
            <a:ext cx="676656" cy="676656"/>
          </a:xfrm>
          <a:prstGeom prst="ellipse">
            <a:avLst/>
          </a:prstGeom>
          <a:solidFill>
            <a:srgbClr val="059669"/>
          </a:solidFill>
          <a:ln/>
        </p:spPr>
      </p:sp>
      <p:pic>
        <p:nvPicPr>
          <p:cNvPr id="28" name="Image 3" descr="preencoded.png">    </p:cNvPr>
          <p:cNvPicPr>
            <a:picLocks noChangeAspect="1"/>
          </p:cNvPicPr>
          <p:nvPr/>
        </p:nvPicPr>
        <p:blipFill>
          <a:blip r:embed="rId4"/>
          <a:stretch>
            <a:fillRect/>
          </a:stretch>
        </p:blipFill>
        <p:spPr>
          <a:xfrm>
            <a:off x="6857817" y="2925897"/>
            <a:ext cx="311262" cy="311262"/>
          </a:xfrm>
          <a:prstGeom prst="rect">
            <a:avLst/>
          </a:prstGeom>
        </p:spPr>
      </p:pic>
      <p:sp>
        <p:nvSpPr>
          <p:cNvPr id="29" name="Text 23"/>
          <p:cNvSpPr/>
          <p:nvPr/>
        </p:nvSpPr>
        <p:spPr>
          <a:xfrm>
            <a:off x="7552944" y="2706624"/>
            <a:ext cx="411480" cy="411480"/>
          </a:xfrm>
          <a:prstGeom prst="rect">
            <a:avLst/>
          </a:prstGeom>
          <a:noFill/>
          <a:ln/>
        </p:spPr>
        <p:txBody>
          <a:bodyPr wrap="square" lIns="0" tIns="0" rIns="0" bIns="0" rtlCol="0" anchor="ctr"/>
          <a:lstStyle/>
          <a:p>
            <a:pPr algn="r" indent="0" marL="0">
              <a:buNone/>
            </a:pPr>
            <a:r>
              <a:rPr lang="en-US" sz="2000" b="1" dirty="0">
                <a:solidFill>
                  <a:srgbClr val="E6EBF2"/>
                </a:solidFill>
                <a:latin typeface="Trebuchet MS" pitchFamily="34" charset="0"/>
                <a:ea typeface="Trebuchet MS" pitchFamily="34" charset="-122"/>
                <a:cs typeface="Trebuchet MS" pitchFamily="34" charset="-120"/>
              </a:rPr>
              <a:t>4</a:t>
            </a:r>
            <a:endParaRPr lang="en-US" sz="2000" dirty="0"/>
          </a:p>
        </p:txBody>
      </p:sp>
      <p:sp>
        <p:nvSpPr>
          <p:cNvPr id="30" name="Text 24"/>
          <p:cNvSpPr/>
          <p:nvPr/>
        </p:nvSpPr>
        <p:spPr>
          <a:xfrm>
            <a:off x="6601968" y="3566160"/>
            <a:ext cx="1335024" cy="365760"/>
          </a:xfrm>
          <a:prstGeom prst="rect">
            <a:avLst/>
          </a:prstGeom>
          <a:noFill/>
          <a:ln/>
        </p:spPr>
        <p:txBody>
          <a:bodyPr wrap="square" lIns="0" tIns="0" rIns="0" bIns="0" rtlCol="0" anchor="ctr"/>
          <a:lstStyle/>
          <a:p>
            <a:pPr indent="0" marL="0">
              <a:buNone/>
            </a:pPr>
            <a:r>
              <a:rPr lang="en-US" sz="1500" b="1" dirty="0">
                <a:solidFill>
                  <a:srgbClr val="0F172A"/>
                </a:solidFill>
                <a:latin typeface="Trebuchet MS" pitchFamily="34" charset="0"/>
                <a:ea typeface="Trebuchet MS" pitchFamily="34" charset="-122"/>
                <a:cs typeface="Trebuchet MS" pitchFamily="34" charset="-120"/>
              </a:rPr>
              <a:t>Validate</a:t>
            </a:r>
            <a:endParaRPr lang="en-US" sz="1500" dirty="0"/>
          </a:p>
        </p:txBody>
      </p:sp>
      <p:sp>
        <p:nvSpPr>
          <p:cNvPr id="31" name="Text 25"/>
          <p:cNvSpPr/>
          <p:nvPr/>
        </p:nvSpPr>
        <p:spPr>
          <a:xfrm>
            <a:off x="6601968" y="3931920"/>
            <a:ext cx="1380744" cy="640080"/>
          </a:xfrm>
          <a:prstGeom prst="rect">
            <a:avLst/>
          </a:prstGeom>
          <a:noFill/>
          <a:ln/>
        </p:spPr>
        <p:txBody>
          <a:bodyPr wrap="square" lIns="0" tIns="0" rIns="0" bIns="0" rtlCol="0" anchor="ctr"/>
          <a:lstStyle/>
          <a:p>
            <a:pPr indent="0" marL="0">
              <a:lnSpc>
                <a:spcPts val="1500"/>
              </a:lnSpc>
              <a:buNone/>
            </a:pPr>
            <a:r>
              <a:rPr lang="en-US" sz="1150" dirty="0">
                <a:solidFill>
                  <a:srgbClr val="64748B"/>
                </a:solidFill>
                <a:latin typeface="Calibri" pitchFamily="34" charset="0"/>
                <a:ea typeface="Calibri" pitchFamily="34" charset="-122"/>
                <a:cs typeface="Calibri" pitchFamily="34" charset="-120"/>
              </a:rPr>
              <a:t>Hard policy rules.</a:t>
            </a:r>
            <a:endParaRPr lang="en-US" sz="1150" dirty="0"/>
          </a:p>
        </p:txBody>
      </p:sp>
      <p:sp>
        <p:nvSpPr>
          <p:cNvPr id="32" name="Shape 26"/>
          <p:cNvSpPr/>
          <p:nvPr/>
        </p:nvSpPr>
        <p:spPr>
          <a:xfrm>
            <a:off x="8138160" y="3081528"/>
            <a:ext cx="128016" cy="0"/>
          </a:xfrm>
          <a:prstGeom prst="line">
            <a:avLst/>
          </a:prstGeom>
          <a:noFill/>
          <a:ln w="19050">
            <a:solidFill>
              <a:srgbClr val="C2D2EA"/>
            </a:solidFill>
            <a:prstDash val="solid"/>
          </a:ln>
        </p:spPr>
      </p:sp>
      <p:sp>
        <p:nvSpPr>
          <p:cNvPr id="33" name="Shape 27"/>
          <p:cNvSpPr/>
          <p:nvPr/>
        </p:nvSpPr>
        <p:spPr>
          <a:xfrm>
            <a:off x="8284464" y="2468880"/>
            <a:ext cx="1700784" cy="2240280"/>
          </a:xfrm>
          <a:prstGeom prst="roundRect">
            <a:avLst>
              <a:gd name="adj" fmla="val 5376"/>
            </a:avLst>
          </a:prstGeom>
          <a:solidFill>
            <a:srgbClr val="FFFFFF"/>
          </a:solidFill>
          <a:ln w="12700">
            <a:solidFill>
              <a:srgbClr val="E6EBF2"/>
            </a:solidFill>
            <a:prstDash val="solid"/>
          </a:ln>
          <a:effectLst>
            <a:outerShdw sx="100000" sy="100000" kx="0" ky="0" algn="bl" rotWithShape="0" blurRad="114300" dist="38100" dir="5400000">
              <a:srgbClr val="1E293B">
                <a:alpha val="12000"/>
              </a:srgbClr>
            </a:outerShdw>
          </a:effectLst>
        </p:spPr>
      </p:sp>
      <p:sp>
        <p:nvSpPr>
          <p:cNvPr id="34" name="Shape 28"/>
          <p:cNvSpPr/>
          <p:nvPr/>
        </p:nvSpPr>
        <p:spPr>
          <a:xfrm>
            <a:off x="8540496" y="2743200"/>
            <a:ext cx="676656" cy="676656"/>
          </a:xfrm>
          <a:prstGeom prst="ellipse">
            <a:avLst/>
          </a:prstGeom>
          <a:solidFill>
            <a:srgbClr val="D97706"/>
          </a:solidFill>
          <a:ln/>
        </p:spPr>
      </p:sp>
      <p:pic>
        <p:nvPicPr>
          <p:cNvPr id="35" name="Image 4" descr="preencoded.png">    </p:cNvPr>
          <p:cNvPicPr>
            <a:picLocks noChangeAspect="1"/>
          </p:cNvPicPr>
          <p:nvPr/>
        </p:nvPicPr>
        <p:blipFill>
          <a:blip r:embed="rId5"/>
          <a:stretch>
            <a:fillRect/>
          </a:stretch>
        </p:blipFill>
        <p:spPr>
          <a:xfrm>
            <a:off x="8723193" y="2925897"/>
            <a:ext cx="311262" cy="311262"/>
          </a:xfrm>
          <a:prstGeom prst="rect">
            <a:avLst/>
          </a:prstGeom>
        </p:spPr>
      </p:pic>
      <p:sp>
        <p:nvSpPr>
          <p:cNvPr id="36" name="Text 29"/>
          <p:cNvSpPr/>
          <p:nvPr/>
        </p:nvSpPr>
        <p:spPr>
          <a:xfrm>
            <a:off x="9418320" y="2706624"/>
            <a:ext cx="411480" cy="411480"/>
          </a:xfrm>
          <a:prstGeom prst="rect">
            <a:avLst/>
          </a:prstGeom>
          <a:noFill/>
          <a:ln/>
        </p:spPr>
        <p:txBody>
          <a:bodyPr wrap="square" lIns="0" tIns="0" rIns="0" bIns="0" rtlCol="0" anchor="ctr"/>
          <a:lstStyle/>
          <a:p>
            <a:pPr algn="r" indent="0" marL="0">
              <a:buNone/>
            </a:pPr>
            <a:r>
              <a:rPr lang="en-US" sz="2000" b="1" dirty="0">
                <a:solidFill>
                  <a:srgbClr val="E6EBF2"/>
                </a:solidFill>
                <a:latin typeface="Trebuchet MS" pitchFamily="34" charset="0"/>
                <a:ea typeface="Trebuchet MS" pitchFamily="34" charset="-122"/>
                <a:cs typeface="Trebuchet MS" pitchFamily="34" charset="-120"/>
              </a:rPr>
              <a:t>5</a:t>
            </a:r>
            <a:endParaRPr lang="en-US" sz="2000" dirty="0"/>
          </a:p>
        </p:txBody>
      </p:sp>
      <p:sp>
        <p:nvSpPr>
          <p:cNvPr id="37" name="Text 30"/>
          <p:cNvSpPr/>
          <p:nvPr/>
        </p:nvSpPr>
        <p:spPr>
          <a:xfrm>
            <a:off x="8467344" y="3566160"/>
            <a:ext cx="1335024" cy="365760"/>
          </a:xfrm>
          <a:prstGeom prst="rect">
            <a:avLst/>
          </a:prstGeom>
          <a:noFill/>
          <a:ln/>
        </p:spPr>
        <p:txBody>
          <a:bodyPr wrap="square" lIns="0" tIns="0" rIns="0" bIns="0" rtlCol="0" anchor="ctr"/>
          <a:lstStyle/>
          <a:p>
            <a:pPr indent="0" marL="0">
              <a:buNone/>
            </a:pPr>
            <a:r>
              <a:rPr lang="en-US" sz="1500" b="1" dirty="0">
                <a:solidFill>
                  <a:srgbClr val="0F172A"/>
                </a:solidFill>
                <a:latin typeface="Trebuchet MS" pitchFamily="34" charset="0"/>
                <a:ea typeface="Trebuchet MS" pitchFamily="34" charset="-122"/>
                <a:cs typeface="Trebuchet MS" pitchFamily="34" charset="-120"/>
              </a:rPr>
              <a:t>Reason</a:t>
            </a:r>
            <a:endParaRPr lang="en-US" sz="1500" dirty="0"/>
          </a:p>
        </p:txBody>
      </p:sp>
      <p:sp>
        <p:nvSpPr>
          <p:cNvPr id="38" name="Text 31"/>
          <p:cNvSpPr/>
          <p:nvPr/>
        </p:nvSpPr>
        <p:spPr>
          <a:xfrm>
            <a:off x="8467344" y="3931920"/>
            <a:ext cx="1380744" cy="640080"/>
          </a:xfrm>
          <a:prstGeom prst="rect">
            <a:avLst/>
          </a:prstGeom>
          <a:noFill/>
          <a:ln/>
        </p:spPr>
        <p:txBody>
          <a:bodyPr wrap="square" lIns="0" tIns="0" rIns="0" bIns="0" rtlCol="0" anchor="ctr"/>
          <a:lstStyle/>
          <a:p>
            <a:pPr indent="0" marL="0">
              <a:lnSpc>
                <a:spcPts val="1500"/>
              </a:lnSpc>
              <a:buNone/>
            </a:pPr>
            <a:r>
              <a:rPr lang="en-US" sz="1150" dirty="0">
                <a:solidFill>
                  <a:srgbClr val="64748B"/>
                </a:solidFill>
                <a:latin typeface="Calibri" pitchFamily="34" charset="0"/>
                <a:ea typeface="Calibri" pitchFamily="34" charset="-122"/>
                <a:cs typeface="Calibri" pitchFamily="34" charset="-120"/>
              </a:rPr>
              <a:t>Market &amp; risky clauses.</a:t>
            </a:r>
            <a:endParaRPr lang="en-US" sz="1150" dirty="0"/>
          </a:p>
        </p:txBody>
      </p:sp>
      <p:sp>
        <p:nvSpPr>
          <p:cNvPr id="39" name="Shape 32"/>
          <p:cNvSpPr/>
          <p:nvPr/>
        </p:nvSpPr>
        <p:spPr>
          <a:xfrm>
            <a:off x="10003536" y="3081528"/>
            <a:ext cx="128016" cy="0"/>
          </a:xfrm>
          <a:prstGeom prst="line">
            <a:avLst/>
          </a:prstGeom>
          <a:noFill/>
          <a:ln w="19050">
            <a:solidFill>
              <a:srgbClr val="C2D2EA"/>
            </a:solidFill>
            <a:prstDash val="solid"/>
          </a:ln>
        </p:spPr>
      </p:sp>
      <p:sp>
        <p:nvSpPr>
          <p:cNvPr id="40" name="Shape 33"/>
          <p:cNvSpPr/>
          <p:nvPr/>
        </p:nvSpPr>
        <p:spPr>
          <a:xfrm>
            <a:off x="10149840" y="2468880"/>
            <a:ext cx="1700784" cy="2240280"/>
          </a:xfrm>
          <a:prstGeom prst="roundRect">
            <a:avLst>
              <a:gd name="adj" fmla="val 5376"/>
            </a:avLst>
          </a:prstGeom>
          <a:solidFill>
            <a:srgbClr val="FFFFFF"/>
          </a:solidFill>
          <a:ln w="12700">
            <a:solidFill>
              <a:srgbClr val="E6EBF2"/>
            </a:solidFill>
            <a:prstDash val="solid"/>
          </a:ln>
          <a:effectLst>
            <a:outerShdw sx="100000" sy="100000" kx="0" ky="0" algn="bl" rotWithShape="0" blurRad="114300" dist="38100" dir="5400000">
              <a:srgbClr val="1E293B">
                <a:alpha val="12000"/>
              </a:srgbClr>
            </a:outerShdw>
          </a:effectLst>
        </p:spPr>
      </p:sp>
      <p:sp>
        <p:nvSpPr>
          <p:cNvPr id="41" name="Shape 34"/>
          <p:cNvSpPr/>
          <p:nvPr/>
        </p:nvSpPr>
        <p:spPr>
          <a:xfrm>
            <a:off x="10405872" y="2743200"/>
            <a:ext cx="676656" cy="676656"/>
          </a:xfrm>
          <a:prstGeom prst="ellipse">
            <a:avLst/>
          </a:prstGeom>
          <a:solidFill>
            <a:srgbClr val="2563EB"/>
          </a:solidFill>
          <a:ln/>
        </p:spPr>
      </p:sp>
      <p:pic>
        <p:nvPicPr>
          <p:cNvPr id="42" name="Image 5" descr="preencoded.png">    </p:cNvPr>
          <p:cNvPicPr>
            <a:picLocks noChangeAspect="1"/>
          </p:cNvPicPr>
          <p:nvPr/>
        </p:nvPicPr>
        <p:blipFill>
          <a:blip r:embed="rId6"/>
          <a:stretch>
            <a:fillRect/>
          </a:stretch>
        </p:blipFill>
        <p:spPr>
          <a:xfrm>
            <a:off x="10588569" y="2925897"/>
            <a:ext cx="311262" cy="311262"/>
          </a:xfrm>
          <a:prstGeom prst="rect">
            <a:avLst/>
          </a:prstGeom>
        </p:spPr>
      </p:pic>
      <p:sp>
        <p:nvSpPr>
          <p:cNvPr id="43" name="Text 35"/>
          <p:cNvSpPr/>
          <p:nvPr/>
        </p:nvSpPr>
        <p:spPr>
          <a:xfrm>
            <a:off x="11283696" y="2706624"/>
            <a:ext cx="411480" cy="411480"/>
          </a:xfrm>
          <a:prstGeom prst="rect">
            <a:avLst/>
          </a:prstGeom>
          <a:noFill/>
          <a:ln/>
        </p:spPr>
        <p:txBody>
          <a:bodyPr wrap="square" lIns="0" tIns="0" rIns="0" bIns="0" rtlCol="0" anchor="ctr"/>
          <a:lstStyle/>
          <a:p>
            <a:pPr algn="r" indent="0" marL="0">
              <a:buNone/>
            </a:pPr>
            <a:r>
              <a:rPr lang="en-US" sz="2000" b="1" dirty="0">
                <a:solidFill>
                  <a:srgbClr val="E6EBF2"/>
                </a:solidFill>
                <a:latin typeface="Trebuchet MS" pitchFamily="34" charset="0"/>
                <a:ea typeface="Trebuchet MS" pitchFamily="34" charset="-122"/>
                <a:cs typeface="Trebuchet MS" pitchFamily="34" charset="-120"/>
              </a:rPr>
              <a:t>6</a:t>
            </a:r>
            <a:endParaRPr lang="en-US" sz="2000" dirty="0"/>
          </a:p>
        </p:txBody>
      </p:sp>
      <p:sp>
        <p:nvSpPr>
          <p:cNvPr id="44" name="Text 36"/>
          <p:cNvSpPr/>
          <p:nvPr/>
        </p:nvSpPr>
        <p:spPr>
          <a:xfrm>
            <a:off x="10332720" y="3566160"/>
            <a:ext cx="1335024" cy="365760"/>
          </a:xfrm>
          <a:prstGeom prst="rect">
            <a:avLst/>
          </a:prstGeom>
          <a:noFill/>
          <a:ln/>
        </p:spPr>
        <p:txBody>
          <a:bodyPr wrap="square" lIns="0" tIns="0" rIns="0" bIns="0" rtlCol="0" anchor="ctr"/>
          <a:lstStyle/>
          <a:p>
            <a:pPr indent="0" marL="0">
              <a:buNone/>
            </a:pPr>
            <a:r>
              <a:rPr lang="en-US" sz="1500" b="1" dirty="0">
                <a:solidFill>
                  <a:srgbClr val="0F172A"/>
                </a:solidFill>
                <a:latin typeface="Trebuchet MS" pitchFamily="34" charset="0"/>
                <a:ea typeface="Trebuchet MS" pitchFamily="34" charset="-122"/>
                <a:cs typeface="Trebuchet MS" pitchFamily="34" charset="-120"/>
              </a:rPr>
              <a:t>Review</a:t>
            </a:r>
            <a:endParaRPr lang="en-US" sz="1500" dirty="0"/>
          </a:p>
        </p:txBody>
      </p:sp>
      <p:sp>
        <p:nvSpPr>
          <p:cNvPr id="45" name="Text 37"/>
          <p:cNvSpPr/>
          <p:nvPr/>
        </p:nvSpPr>
        <p:spPr>
          <a:xfrm>
            <a:off x="10332720" y="3931920"/>
            <a:ext cx="1380744" cy="640080"/>
          </a:xfrm>
          <a:prstGeom prst="rect">
            <a:avLst/>
          </a:prstGeom>
          <a:noFill/>
          <a:ln/>
        </p:spPr>
        <p:txBody>
          <a:bodyPr wrap="square" lIns="0" tIns="0" rIns="0" bIns="0" rtlCol="0" anchor="ctr"/>
          <a:lstStyle/>
          <a:p>
            <a:pPr indent="0" marL="0">
              <a:lnSpc>
                <a:spcPts val="1500"/>
              </a:lnSpc>
              <a:buNone/>
            </a:pPr>
            <a:r>
              <a:rPr lang="en-US" sz="1150" dirty="0">
                <a:solidFill>
                  <a:srgbClr val="64748B"/>
                </a:solidFill>
                <a:latin typeface="Calibri" pitchFamily="34" charset="0"/>
                <a:ea typeface="Calibri" pitchFamily="34" charset="-122"/>
                <a:cs typeface="Calibri" pitchFamily="34" charset="-120"/>
              </a:rPr>
              <a:t>Confirm or override.</a:t>
            </a:r>
            <a:endParaRPr lang="en-US" sz="1150" dirty="0"/>
          </a:p>
        </p:txBody>
      </p:sp>
      <p:sp>
        <p:nvSpPr>
          <p:cNvPr id="46" name="Text 38"/>
          <p:cNvSpPr/>
          <p:nvPr/>
        </p:nvSpPr>
        <p:spPr>
          <a:xfrm>
            <a:off x="822960" y="5257800"/>
            <a:ext cx="10515600" cy="457200"/>
          </a:xfrm>
          <a:prstGeom prst="rect">
            <a:avLst/>
          </a:prstGeom>
          <a:noFill/>
          <a:ln/>
        </p:spPr>
        <p:txBody>
          <a:bodyPr wrap="square" lIns="0" tIns="0" rIns="0" bIns="0" rtlCol="0" anchor="ctr"/>
          <a:lstStyle/>
          <a:p>
            <a:pPr indent="0" marL="0">
              <a:buNone/>
            </a:pPr>
            <a:r>
              <a:rPr lang="en-US" sz="1500" b="1" dirty="0">
                <a:solidFill>
                  <a:srgbClr val="1D4ED8"/>
                </a:solidFill>
                <a:latin typeface="Calibri" pitchFamily="34" charset="0"/>
                <a:ea typeface="Calibri" pitchFamily="34" charset="-122"/>
                <a:cs typeface="Calibri" pitchFamily="34" charset="-120"/>
              </a:rPr>
              <a:t>Next: the live demo.  </a:t>
            </a:r>
            <a:pPr indent="0" marL="0">
              <a:buNone/>
            </a:pPr>
            <a:r>
              <a:rPr lang="en-US" sz="1500" dirty="0">
                <a:solidFill>
                  <a:srgbClr val="334155"/>
                </a:solidFill>
                <a:latin typeface="Calibri" pitchFamily="34" charset="0"/>
                <a:ea typeface="Calibri" pitchFamily="34" charset="-122"/>
                <a:cs typeface="Calibri" pitchFamily="34" charset="-120"/>
              </a:rPr>
              <a:t>Open the inbox and run a lease through it.</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822960" y="566928"/>
            <a:ext cx="8229600" cy="274320"/>
          </a:xfrm>
          <a:prstGeom prst="rect">
            <a:avLst/>
          </a:prstGeom>
          <a:noFill/>
          <a:ln/>
        </p:spPr>
        <p:txBody>
          <a:bodyPr wrap="square" lIns="0" tIns="0" rIns="0" bIns="0" rtlCol="0" anchor="ctr"/>
          <a:lstStyle/>
          <a:p>
            <a:pPr indent="0" marL="0">
              <a:buNone/>
            </a:pPr>
            <a:r>
              <a:rPr lang="en-US" sz="1200" b="1" spc="300" kern="0" dirty="0">
                <a:solidFill>
                  <a:srgbClr val="2563EB"/>
                </a:solidFill>
                <a:latin typeface="Trebuchet MS" pitchFamily="34" charset="0"/>
                <a:ea typeface="Trebuchet MS" pitchFamily="34" charset="-122"/>
                <a:cs typeface="Trebuchet MS" pitchFamily="34" charset="-120"/>
              </a:rPr>
              <a:t>SEE IT IN ACTION</a:t>
            </a:r>
            <a:endParaRPr lang="en-US" sz="1200" dirty="0"/>
          </a:p>
        </p:txBody>
      </p:sp>
      <p:sp>
        <p:nvSpPr>
          <p:cNvPr id="3" name="Text 1"/>
          <p:cNvSpPr/>
          <p:nvPr/>
        </p:nvSpPr>
        <p:spPr>
          <a:xfrm>
            <a:off x="822960" y="896112"/>
            <a:ext cx="7315200" cy="640080"/>
          </a:xfrm>
          <a:prstGeom prst="rect">
            <a:avLst/>
          </a:prstGeom>
          <a:noFill/>
          <a:ln/>
        </p:spPr>
        <p:txBody>
          <a:bodyPr wrap="square" lIns="0" tIns="0" rIns="0" bIns="0" rtlCol="0" anchor="ctr"/>
          <a:lstStyle/>
          <a:p>
            <a:pPr indent="0" marL="0">
              <a:buNone/>
            </a:pPr>
            <a:r>
              <a:rPr lang="en-US" sz="3000" b="1" dirty="0">
                <a:solidFill>
                  <a:srgbClr val="0F172A"/>
                </a:solidFill>
                <a:latin typeface="Trebuchet MS" pitchFamily="34" charset="0"/>
                <a:ea typeface="Trebuchet MS" pitchFamily="34" charset="-122"/>
                <a:cs typeface="Trebuchet MS" pitchFamily="34" charset="-120"/>
              </a:rPr>
              <a:t>The reviewer's inbox</a:t>
            </a:r>
            <a:endParaRPr lang="en-US" sz="3000" dirty="0"/>
          </a:p>
        </p:txBody>
      </p:sp>
      <p:sp>
        <p:nvSpPr>
          <p:cNvPr id="4" name="Text 2"/>
          <p:cNvSpPr/>
          <p:nvPr/>
        </p:nvSpPr>
        <p:spPr>
          <a:xfrm>
            <a:off x="841248" y="1517904"/>
            <a:ext cx="10424160" cy="457200"/>
          </a:xfrm>
          <a:prstGeom prst="rect">
            <a:avLst/>
          </a:prstGeom>
          <a:noFill/>
          <a:ln/>
        </p:spPr>
        <p:txBody>
          <a:bodyPr wrap="square" lIns="0" tIns="0" rIns="0" bIns="0" rtlCol="0" anchor="ctr"/>
          <a:lstStyle/>
          <a:p>
            <a:pPr indent="0" marL="0">
              <a:buNone/>
            </a:pPr>
            <a:r>
              <a:rPr lang="en-US" sz="1450" dirty="0">
                <a:solidFill>
                  <a:srgbClr val="64748B"/>
                </a:solidFill>
                <a:latin typeface="Calibri" pitchFamily="34" charset="0"/>
                <a:ea typeface="Calibri" pitchFamily="34" charset="-122"/>
                <a:cs typeface="Calibri" pitchFamily="34" charset="-120"/>
              </a:rPr>
              <a:t>One row per lease, color-coded by verdict. Open one to see the fields it pulled and the issues it flagged.</a:t>
            </a:r>
            <a:endParaRPr lang="en-US" sz="1450" dirty="0"/>
          </a:p>
        </p:txBody>
      </p:sp>
      <p:sp>
        <p:nvSpPr>
          <p:cNvPr id="5" name="Shape 3"/>
          <p:cNvSpPr/>
          <p:nvPr/>
        </p:nvSpPr>
        <p:spPr>
          <a:xfrm>
            <a:off x="2182216" y="2048256"/>
            <a:ext cx="7827264" cy="4736592"/>
          </a:xfrm>
          <a:prstGeom prst="roundRect">
            <a:avLst>
              <a:gd name="adj" fmla="val 1158"/>
            </a:avLst>
          </a:prstGeom>
          <a:solidFill>
            <a:srgbClr val="FFFFFF"/>
          </a:solidFill>
          <a:ln w="12700">
            <a:solidFill>
              <a:srgbClr val="E6EBF2"/>
            </a:solidFill>
            <a:prstDash val="solid"/>
          </a:ln>
          <a:effectLst>
            <a:outerShdw sx="100000" sy="100000" kx="0" ky="0" algn="bl" rotWithShape="0" blurRad="114300" dist="38100" dir="5400000">
              <a:srgbClr val="1E293B">
                <a:alpha val="12000"/>
              </a:srgbClr>
            </a:outerShdw>
          </a:effectLst>
        </p:spPr>
      </p:sp>
      <p:pic>
        <p:nvPicPr>
          <p:cNvPr id="6" name="Image 0" descr="app_inbox.png">    </p:cNvPr>
          <p:cNvPicPr>
            <a:picLocks noChangeAspect="1"/>
          </p:cNvPicPr>
          <p:nvPr/>
        </p:nvPicPr>
        <p:blipFill>
          <a:blip r:embed="rId1"/>
          <a:stretch>
            <a:fillRect/>
          </a:stretch>
        </p:blipFill>
        <p:spPr>
          <a:xfrm>
            <a:off x="2255368" y="2121408"/>
            <a:ext cx="7680960" cy="4590288"/>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822960" y="640080"/>
            <a:ext cx="8229600" cy="274320"/>
          </a:xfrm>
          <a:prstGeom prst="rect">
            <a:avLst/>
          </a:prstGeom>
          <a:noFill/>
          <a:ln/>
        </p:spPr>
        <p:txBody>
          <a:bodyPr wrap="square" lIns="0" tIns="0" rIns="0" bIns="0" rtlCol="0" anchor="ctr"/>
          <a:lstStyle/>
          <a:p>
            <a:pPr indent="0" marL="0">
              <a:buNone/>
            </a:pPr>
            <a:r>
              <a:rPr lang="en-US" sz="1200" b="1" spc="300" kern="0" dirty="0">
                <a:solidFill>
                  <a:srgbClr val="2563EB"/>
                </a:solidFill>
                <a:latin typeface="Trebuchet MS" pitchFamily="34" charset="0"/>
                <a:ea typeface="Trebuchet MS" pitchFamily="34" charset="-122"/>
                <a:cs typeface="Trebuchet MS" pitchFamily="34" charset="-120"/>
              </a:rPr>
              <a:t>HOW IT'S BUILT</a:t>
            </a:r>
            <a:endParaRPr lang="en-US" sz="1200" dirty="0"/>
          </a:p>
        </p:txBody>
      </p:sp>
      <p:sp>
        <p:nvSpPr>
          <p:cNvPr id="3" name="Text 1"/>
          <p:cNvSpPr/>
          <p:nvPr/>
        </p:nvSpPr>
        <p:spPr>
          <a:xfrm>
            <a:off x="822960" y="960120"/>
            <a:ext cx="10058400" cy="822960"/>
          </a:xfrm>
          <a:prstGeom prst="rect">
            <a:avLst/>
          </a:prstGeom>
          <a:noFill/>
          <a:ln/>
        </p:spPr>
        <p:txBody>
          <a:bodyPr wrap="square" lIns="0" tIns="0" rIns="0" bIns="0" rtlCol="0" anchor="ctr"/>
          <a:lstStyle/>
          <a:p>
            <a:pPr indent="0" marL="0">
              <a:buNone/>
            </a:pPr>
            <a:r>
              <a:rPr lang="en-US" sz="3100" b="1" dirty="0">
                <a:solidFill>
                  <a:srgbClr val="0F172A"/>
                </a:solidFill>
                <a:latin typeface="Trebuchet MS" pitchFamily="34" charset="0"/>
                <a:ea typeface="Trebuchet MS" pitchFamily="34" charset="-122"/>
                <a:cs typeface="Trebuchet MS" pitchFamily="34" charset="-120"/>
              </a:rPr>
              <a:t>Simple by default, swappable intelligence</a:t>
            </a:r>
            <a:endParaRPr lang="en-US" sz="3100" dirty="0"/>
          </a:p>
        </p:txBody>
      </p:sp>
      <p:sp>
        <p:nvSpPr>
          <p:cNvPr id="4" name="Shape 2"/>
          <p:cNvSpPr/>
          <p:nvPr/>
        </p:nvSpPr>
        <p:spPr>
          <a:xfrm>
            <a:off x="822960" y="1920240"/>
            <a:ext cx="5669280" cy="4114800"/>
          </a:xfrm>
          <a:prstGeom prst="roundRect">
            <a:avLst>
              <a:gd name="adj" fmla="val 2222"/>
            </a:avLst>
          </a:prstGeom>
          <a:solidFill>
            <a:srgbClr val="FFFFFF"/>
          </a:solidFill>
          <a:ln w="12700">
            <a:solidFill>
              <a:srgbClr val="E6EBF2"/>
            </a:solidFill>
            <a:prstDash val="solid"/>
          </a:ln>
          <a:effectLst>
            <a:outerShdw sx="100000" sy="100000" kx="0" ky="0" algn="bl" rotWithShape="0" blurRad="114300" dist="38100" dir="5400000">
              <a:srgbClr val="1E293B">
                <a:alpha val="12000"/>
              </a:srgbClr>
            </a:outerShdw>
          </a:effectLst>
        </p:spPr>
      </p:sp>
      <p:sp>
        <p:nvSpPr>
          <p:cNvPr id="5" name="Text 3"/>
          <p:cNvSpPr/>
          <p:nvPr/>
        </p:nvSpPr>
        <p:spPr>
          <a:xfrm>
            <a:off x="1097280" y="2103120"/>
            <a:ext cx="4572000" cy="365760"/>
          </a:xfrm>
          <a:prstGeom prst="rect">
            <a:avLst/>
          </a:prstGeom>
          <a:noFill/>
          <a:ln/>
        </p:spPr>
        <p:txBody>
          <a:bodyPr wrap="square" lIns="0" tIns="0" rIns="0" bIns="0" rtlCol="0" anchor="ctr"/>
          <a:lstStyle/>
          <a:p>
            <a:pPr indent="0" marL="0">
              <a:buNone/>
            </a:pPr>
            <a:r>
              <a:rPr lang="en-US" sz="1500" b="1" dirty="0">
                <a:solidFill>
                  <a:srgbClr val="1D4ED8"/>
                </a:solidFill>
                <a:latin typeface="Trebuchet MS" pitchFamily="34" charset="0"/>
                <a:ea typeface="Trebuchet MS" pitchFamily="34" charset="-122"/>
                <a:cs typeface="Trebuchet MS" pitchFamily="34" charset="-120"/>
              </a:rPr>
              <a:t>Stack</a:t>
            </a:r>
            <a:endParaRPr lang="en-US" sz="1500" dirty="0"/>
          </a:p>
        </p:txBody>
      </p:sp>
      <p:sp>
        <p:nvSpPr>
          <p:cNvPr id="6" name="Text 4"/>
          <p:cNvSpPr/>
          <p:nvPr/>
        </p:nvSpPr>
        <p:spPr>
          <a:xfrm>
            <a:off x="1097280" y="2542032"/>
            <a:ext cx="1463040" cy="384048"/>
          </a:xfrm>
          <a:prstGeom prst="rect">
            <a:avLst/>
          </a:prstGeom>
          <a:noFill/>
          <a:ln/>
        </p:spPr>
        <p:txBody>
          <a:bodyPr wrap="square" lIns="0" tIns="0" rIns="0" bIns="0" rtlCol="0" anchor="ctr"/>
          <a:lstStyle/>
          <a:p>
            <a:pPr indent="0" marL="0">
              <a:buNone/>
            </a:pPr>
            <a:r>
              <a:rPr lang="en-US" sz="1350" b="1" dirty="0">
                <a:solidFill>
                  <a:srgbClr val="0F172A"/>
                </a:solidFill>
                <a:latin typeface="Calibri" pitchFamily="34" charset="0"/>
                <a:ea typeface="Calibri" pitchFamily="34" charset="-122"/>
                <a:cs typeface="Calibri" pitchFamily="34" charset="-120"/>
              </a:rPr>
              <a:t>Backend</a:t>
            </a:r>
            <a:endParaRPr lang="en-US" sz="1350" dirty="0"/>
          </a:p>
        </p:txBody>
      </p:sp>
      <p:sp>
        <p:nvSpPr>
          <p:cNvPr id="7" name="Text 5"/>
          <p:cNvSpPr/>
          <p:nvPr/>
        </p:nvSpPr>
        <p:spPr>
          <a:xfrm>
            <a:off x="2560320" y="2542032"/>
            <a:ext cx="3749040" cy="384048"/>
          </a:xfrm>
          <a:prstGeom prst="rect">
            <a:avLst/>
          </a:prstGeom>
          <a:noFill/>
          <a:ln/>
        </p:spPr>
        <p:txBody>
          <a:bodyPr wrap="square" lIns="0" tIns="0" rIns="0" bIns="0" rtlCol="0" anchor="ctr"/>
          <a:lstStyle/>
          <a:p>
            <a:pPr indent="0" marL="0">
              <a:buNone/>
            </a:pPr>
            <a:r>
              <a:rPr lang="en-US" sz="1250" dirty="0">
                <a:solidFill>
                  <a:srgbClr val="334155"/>
                </a:solidFill>
                <a:latin typeface="Calibri" pitchFamily="34" charset="0"/>
                <a:ea typeface="Calibri" pitchFamily="34" charset="-122"/>
                <a:cs typeface="Calibri" pitchFamily="34" charset="-120"/>
              </a:rPr>
              <a:t>Python · FastAPI · async</a:t>
            </a:r>
            <a:endParaRPr lang="en-US" sz="1250" dirty="0"/>
          </a:p>
        </p:txBody>
      </p:sp>
      <p:sp>
        <p:nvSpPr>
          <p:cNvPr id="8" name="Shape 6"/>
          <p:cNvSpPr/>
          <p:nvPr/>
        </p:nvSpPr>
        <p:spPr>
          <a:xfrm>
            <a:off x="1097280" y="2999232"/>
            <a:ext cx="5120640" cy="0"/>
          </a:xfrm>
          <a:prstGeom prst="line">
            <a:avLst/>
          </a:prstGeom>
          <a:noFill/>
          <a:ln w="12700">
            <a:solidFill>
              <a:srgbClr val="E6EBF2"/>
            </a:solidFill>
            <a:prstDash val="solid"/>
          </a:ln>
        </p:spPr>
      </p:sp>
      <p:sp>
        <p:nvSpPr>
          <p:cNvPr id="9" name="Text 7"/>
          <p:cNvSpPr/>
          <p:nvPr/>
        </p:nvSpPr>
        <p:spPr>
          <a:xfrm>
            <a:off x="1097280" y="3026664"/>
            <a:ext cx="1463040" cy="384048"/>
          </a:xfrm>
          <a:prstGeom prst="rect">
            <a:avLst/>
          </a:prstGeom>
          <a:noFill/>
          <a:ln/>
        </p:spPr>
        <p:txBody>
          <a:bodyPr wrap="square" lIns="0" tIns="0" rIns="0" bIns="0" rtlCol="0" anchor="ctr"/>
          <a:lstStyle/>
          <a:p>
            <a:pPr indent="0" marL="0">
              <a:buNone/>
            </a:pPr>
            <a:r>
              <a:rPr lang="en-US" sz="1350" b="1" dirty="0">
                <a:solidFill>
                  <a:srgbClr val="0F172A"/>
                </a:solidFill>
                <a:latin typeface="Calibri" pitchFamily="34" charset="0"/>
                <a:ea typeface="Calibri" pitchFamily="34" charset="-122"/>
                <a:cs typeface="Calibri" pitchFamily="34" charset="-120"/>
              </a:rPr>
              <a:t>Read PDF</a:t>
            </a:r>
            <a:endParaRPr lang="en-US" sz="1350" dirty="0"/>
          </a:p>
        </p:txBody>
      </p:sp>
      <p:sp>
        <p:nvSpPr>
          <p:cNvPr id="10" name="Text 8"/>
          <p:cNvSpPr/>
          <p:nvPr/>
        </p:nvSpPr>
        <p:spPr>
          <a:xfrm>
            <a:off x="2560320" y="3026664"/>
            <a:ext cx="3749040" cy="384048"/>
          </a:xfrm>
          <a:prstGeom prst="rect">
            <a:avLst/>
          </a:prstGeom>
          <a:noFill/>
          <a:ln/>
        </p:spPr>
        <p:txBody>
          <a:bodyPr wrap="square" lIns="0" tIns="0" rIns="0" bIns="0" rtlCol="0" anchor="ctr"/>
          <a:lstStyle/>
          <a:p>
            <a:pPr indent="0" marL="0">
              <a:buNone/>
            </a:pPr>
            <a:r>
              <a:rPr lang="en-US" sz="1250" dirty="0">
                <a:solidFill>
                  <a:srgbClr val="334155"/>
                </a:solidFill>
                <a:latin typeface="Calibri" pitchFamily="34" charset="0"/>
                <a:ea typeface="Calibri" pitchFamily="34" charset="-122"/>
                <a:cs typeface="Calibri" pitchFamily="34" charset="-120"/>
              </a:rPr>
              <a:t>pdfplumber text + Tesseract OCR for scans</a:t>
            </a:r>
            <a:endParaRPr lang="en-US" sz="1250" dirty="0"/>
          </a:p>
        </p:txBody>
      </p:sp>
      <p:sp>
        <p:nvSpPr>
          <p:cNvPr id="11" name="Shape 9"/>
          <p:cNvSpPr/>
          <p:nvPr/>
        </p:nvSpPr>
        <p:spPr>
          <a:xfrm>
            <a:off x="1097280" y="3483864"/>
            <a:ext cx="5120640" cy="0"/>
          </a:xfrm>
          <a:prstGeom prst="line">
            <a:avLst/>
          </a:prstGeom>
          <a:noFill/>
          <a:ln w="12700">
            <a:solidFill>
              <a:srgbClr val="E6EBF2"/>
            </a:solidFill>
            <a:prstDash val="solid"/>
          </a:ln>
        </p:spPr>
      </p:sp>
      <p:sp>
        <p:nvSpPr>
          <p:cNvPr id="12" name="Text 10"/>
          <p:cNvSpPr/>
          <p:nvPr/>
        </p:nvSpPr>
        <p:spPr>
          <a:xfrm>
            <a:off x="1097280" y="3511296"/>
            <a:ext cx="1463040" cy="384048"/>
          </a:xfrm>
          <a:prstGeom prst="rect">
            <a:avLst/>
          </a:prstGeom>
          <a:noFill/>
          <a:ln/>
        </p:spPr>
        <p:txBody>
          <a:bodyPr wrap="square" lIns="0" tIns="0" rIns="0" bIns="0" rtlCol="0" anchor="ctr"/>
          <a:lstStyle/>
          <a:p>
            <a:pPr indent="0" marL="0">
              <a:buNone/>
            </a:pPr>
            <a:r>
              <a:rPr lang="en-US" sz="1350" b="1" dirty="0">
                <a:solidFill>
                  <a:srgbClr val="0F172A"/>
                </a:solidFill>
                <a:latin typeface="Calibri" pitchFamily="34" charset="0"/>
                <a:ea typeface="Calibri" pitchFamily="34" charset="-122"/>
                <a:cs typeface="Calibri" pitchFamily="34" charset="-120"/>
              </a:rPr>
              <a:t>Extraction</a:t>
            </a:r>
            <a:endParaRPr lang="en-US" sz="1350" dirty="0"/>
          </a:p>
        </p:txBody>
      </p:sp>
      <p:sp>
        <p:nvSpPr>
          <p:cNvPr id="13" name="Text 11"/>
          <p:cNvSpPr/>
          <p:nvPr/>
        </p:nvSpPr>
        <p:spPr>
          <a:xfrm>
            <a:off x="2560320" y="3511296"/>
            <a:ext cx="3749040" cy="384048"/>
          </a:xfrm>
          <a:prstGeom prst="rect">
            <a:avLst/>
          </a:prstGeom>
          <a:noFill/>
          <a:ln/>
        </p:spPr>
        <p:txBody>
          <a:bodyPr wrap="square" lIns="0" tIns="0" rIns="0" bIns="0" rtlCol="0" anchor="ctr"/>
          <a:lstStyle/>
          <a:p>
            <a:pPr indent="0" marL="0">
              <a:buNone/>
            </a:pPr>
            <a:r>
              <a:rPr lang="en-US" sz="1250" dirty="0">
                <a:solidFill>
                  <a:srgbClr val="334155"/>
                </a:solidFill>
                <a:latin typeface="Calibri" pitchFamily="34" charset="0"/>
                <a:ea typeface="Calibri" pitchFamily="34" charset="-122"/>
                <a:cs typeface="Calibri" pitchFamily="34" charset="-120"/>
              </a:rPr>
              <a:t>Regex profile  /  LLM profile (one interface)</a:t>
            </a:r>
            <a:endParaRPr lang="en-US" sz="1250" dirty="0"/>
          </a:p>
        </p:txBody>
      </p:sp>
      <p:sp>
        <p:nvSpPr>
          <p:cNvPr id="14" name="Shape 12"/>
          <p:cNvSpPr/>
          <p:nvPr/>
        </p:nvSpPr>
        <p:spPr>
          <a:xfrm>
            <a:off x="1097280" y="3968496"/>
            <a:ext cx="5120640" cy="0"/>
          </a:xfrm>
          <a:prstGeom prst="line">
            <a:avLst/>
          </a:prstGeom>
          <a:noFill/>
          <a:ln w="12700">
            <a:solidFill>
              <a:srgbClr val="E6EBF2"/>
            </a:solidFill>
            <a:prstDash val="solid"/>
          </a:ln>
        </p:spPr>
      </p:sp>
      <p:sp>
        <p:nvSpPr>
          <p:cNvPr id="15" name="Text 13"/>
          <p:cNvSpPr/>
          <p:nvPr/>
        </p:nvSpPr>
        <p:spPr>
          <a:xfrm>
            <a:off x="1097280" y="3995928"/>
            <a:ext cx="1463040" cy="384048"/>
          </a:xfrm>
          <a:prstGeom prst="rect">
            <a:avLst/>
          </a:prstGeom>
          <a:noFill/>
          <a:ln/>
        </p:spPr>
        <p:txBody>
          <a:bodyPr wrap="square" lIns="0" tIns="0" rIns="0" bIns="0" rtlCol="0" anchor="ctr"/>
          <a:lstStyle/>
          <a:p>
            <a:pPr indent="0" marL="0">
              <a:buNone/>
            </a:pPr>
            <a:r>
              <a:rPr lang="en-US" sz="1350" b="1" dirty="0">
                <a:solidFill>
                  <a:srgbClr val="0F172A"/>
                </a:solidFill>
                <a:latin typeface="Calibri" pitchFamily="34" charset="0"/>
                <a:ea typeface="Calibri" pitchFamily="34" charset="-122"/>
                <a:cs typeface="Calibri" pitchFamily="34" charset="-120"/>
              </a:rPr>
              <a:t>Validation</a:t>
            </a:r>
            <a:endParaRPr lang="en-US" sz="1350" dirty="0"/>
          </a:p>
        </p:txBody>
      </p:sp>
      <p:sp>
        <p:nvSpPr>
          <p:cNvPr id="16" name="Text 14"/>
          <p:cNvSpPr/>
          <p:nvPr/>
        </p:nvSpPr>
        <p:spPr>
          <a:xfrm>
            <a:off x="2560320" y="3995928"/>
            <a:ext cx="3749040" cy="384048"/>
          </a:xfrm>
          <a:prstGeom prst="rect">
            <a:avLst/>
          </a:prstGeom>
          <a:noFill/>
          <a:ln/>
        </p:spPr>
        <p:txBody>
          <a:bodyPr wrap="square" lIns="0" tIns="0" rIns="0" bIns="0" rtlCol="0" anchor="ctr"/>
          <a:lstStyle/>
          <a:p>
            <a:pPr indent="0" marL="0">
              <a:buNone/>
            </a:pPr>
            <a:r>
              <a:rPr lang="en-US" sz="1250" dirty="0">
                <a:solidFill>
                  <a:srgbClr val="334155"/>
                </a:solidFill>
                <a:latin typeface="Calibri" pitchFamily="34" charset="0"/>
                <a:ea typeface="Calibri" pitchFamily="34" charset="-122"/>
                <a:cs typeface="Calibri" pitchFamily="34" charset="-120"/>
              </a:rPr>
              <a:t>Plain, deterministic policy rules</a:t>
            </a:r>
            <a:endParaRPr lang="en-US" sz="1250" dirty="0"/>
          </a:p>
        </p:txBody>
      </p:sp>
      <p:sp>
        <p:nvSpPr>
          <p:cNvPr id="17" name="Shape 15"/>
          <p:cNvSpPr/>
          <p:nvPr/>
        </p:nvSpPr>
        <p:spPr>
          <a:xfrm>
            <a:off x="1097280" y="4453128"/>
            <a:ext cx="5120640" cy="0"/>
          </a:xfrm>
          <a:prstGeom prst="line">
            <a:avLst/>
          </a:prstGeom>
          <a:noFill/>
          <a:ln w="12700">
            <a:solidFill>
              <a:srgbClr val="E6EBF2"/>
            </a:solidFill>
            <a:prstDash val="solid"/>
          </a:ln>
        </p:spPr>
      </p:sp>
      <p:sp>
        <p:nvSpPr>
          <p:cNvPr id="18" name="Text 16"/>
          <p:cNvSpPr/>
          <p:nvPr/>
        </p:nvSpPr>
        <p:spPr>
          <a:xfrm>
            <a:off x="1097280" y="4480560"/>
            <a:ext cx="1463040" cy="384048"/>
          </a:xfrm>
          <a:prstGeom prst="rect">
            <a:avLst/>
          </a:prstGeom>
          <a:noFill/>
          <a:ln/>
        </p:spPr>
        <p:txBody>
          <a:bodyPr wrap="square" lIns="0" tIns="0" rIns="0" bIns="0" rtlCol="0" anchor="ctr"/>
          <a:lstStyle/>
          <a:p>
            <a:pPr indent="0" marL="0">
              <a:buNone/>
            </a:pPr>
            <a:r>
              <a:rPr lang="en-US" sz="1350" b="1" dirty="0">
                <a:solidFill>
                  <a:srgbClr val="0F172A"/>
                </a:solidFill>
                <a:latin typeface="Calibri" pitchFamily="34" charset="0"/>
                <a:ea typeface="Calibri" pitchFamily="34" charset="-122"/>
                <a:cs typeface="Calibri" pitchFamily="34" charset="-120"/>
              </a:rPr>
              <a:t>Reasoning</a:t>
            </a:r>
            <a:endParaRPr lang="en-US" sz="1350" dirty="0"/>
          </a:p>
        </p:txBody>
      </p:sp>
      <p:sp>
        <p:nvSpPr>
          <p:cNvPr id="19" name="Text 17"/>
          <p:cNvSpPr/>
          <p:nvPr/>
        </p:nvSpPr>
        <p:spPr>
          <a:xfrm>
            <a:off x="2560320" y="4480560"/>
            <a:ext cx="3749040" cy="384048"/>
          </a:xfrm>
          <a:prstGeom prst="rect">
            <a:avLst/>
          </a:prstGeom>
          <a:noFill/>
          <a:ln/>
        </p:spPr>
        <p:txBody>
          <a:bodyPr wrap="square" lIns="0" tIns="0" rIns="0" bIns="0" rtlCol="0" anchor="ctr"/>
          <a:lstStyle/>
          <a:p>
            <a:pPr indent="0" marL="0">
              <a:buNone/>
            </a:pPr>
            <a:r>
              <a:rPr lang="en-US" sz="1250" dirty="0">
                <a:solidFill>
                  <a:srgbClr val="334155"/>
                </a:solidFill>
                <a:latin typeface="Calibri" pitchFamily="34" charset="0"/>
                <a:ea typeface="Calibri" pitchFamily="34" charset="-122"/>
                <a:cs typeface="Calibri" pitchFamily="34" charset="-120"/>
              </a:rPr>
              <a:t>Clause checks + rent ranges, LLM-upgradeable</a:t>
            </a:r>
            <a:endParaRPr lang="en-US" sz="1250" dirty="0"/>
          </a:p>
        </p:txBody>
      </p:sp>
      <p:sp>
        <p:nvSpPr>
          <p:cNvPr id="20" name="Shape 18"/>
          <p:cNvSpPr/>
          <p:nvPr/>
        </p:nvSpPr>
        <p:spPr>
          <a:xfrm>
            <a:off x="1097280" y="4937760"/>
            <a:ext cx="5120640" cy="0"/>
          </a:xfrm>
          <a:prstGeom prst="line">
            <a:avLst/>
          </a:prstGeom>
          <a:noFill/>
          <a:ln w="12700">
            <a:solidFill>
              <a:srgbClr val="E6EBF2"/>
            </a:solidFill>
            <a:prstDash val="solid"/>
          </a:ln>
        </p:spPr>
      </p:sp>
      <p:sp>
        <p:nvSpPr>
          <p:cNvPr id="21" name="Text 19"/>
          <p:cNvSpPr/>
          <p:nvPr/>
        </p:nvSpPr>
        <p:spPr>
          <a:xfrm>
            <a:off x="1097280" y="4965192"/>
            <a:ext cx="1463040" cy="384048"/>
          </a:xfrm>
          <a:prstGeom prst="rect">
            <a:avLst/>
          </a:prstGeom>
          <a:noFill/>
          <a:ln/>
        </p:spPr>
        <p:txBody>
          <a:bodyPr wrap="square" lIns="0" tIns="0" rIns="0" bIns="0" rtlCol="0" anchor="ctr"/>
          <a:lstStyle/>
          <a:p>
            <a:pPr indent="0" marL="0">
              <a:buNone/>
            </a:pPr>
            <a:r>
              <a:rPr lang="en-US" sz="1350" b="1" dirty="0">
                <a:solidFill>
                  <a:srgbClr val="0F172A"/>
                </a:solidFill>
                <a:latin typeface="Calibri" pitchFamily="34" charset="0"/>
                <a:ea typeface="Calibri" pitchFamily="34" charset="-122"/>
                <a:cs typeface="Calibri" pitchFamily="34" charset="-120"/>
              </a:rPr>
              <a:t>UI</a:t>
            </a:r>
            <a:endParaRPr lang="en-US" sz="1350" dirty="0"/>
          </a:p>
        </p:txBody>
      </p:sp>
      <p:sp>
        <p:nvSpPr>
          <p:cNvPr id="22" name="Text 20"/>
          <p:cNvSpPr/>
          <p:nvPr/>
        </p:nvSpPr>
        <p:spPr>
          <a:xfrm>
            <a:off x="2560320" y="4965192"/>
            <a:ext cx="3749040" cy="384048"/>
          </a:xfrm>
          <a:prstGeom prst="rect">
            <a:avLst/>
          </a:prstGeom>
          <a:noFill/>
          <a:ln/>
        </p:spPr>
        <p:txBody>
          <a:bodyPr wrap="square" lIns="0" tIns="0" rIns="0" bIns="0" rtlCol="0" anchor="ctr"/>
          <a:lstStyle/>
          <a:p>
            <a:pPr indent="0" marL="0">
              <a:buNone/>
            </a:pPr>
            <a:r>
              <a:rPr lang="en-US" sz="1250" dirty="0">
                <a:solidFill>
                  <a:srgbClr val="334155"/>
                </a:solidFill>
                <a:latin typeface="Calibri" pitchFamily="34" charset="0"/>
                <a:ea typeface="Calibri" pitchFamily="34" charset="-122"/>
                <a:cs typeface="Calibri" pitchFamily="34" charset="-120"/>
              </a:rPr>
              <a:t>Single-page reviewer inbox, no build step</a:t>
            </a:r>
            <a:endParaRPr lang="en-US" sz="1250" dirty="0"/>
          </a:p>
        </p:txBody>
      </p:sp>
      <p:sp>
        <p:nvSpPr>
          <p:cNvPr id="23" name="Shape 21"/>
          <p:cNvSpPr/>
          <p:nvPr/>
        </p:nvSpPr>
        <p:spPr>
          <a:xfrm>
            <a:off x="1097280" y="5422392"/>
            <a:ext cx="5120640" cy="0"/>
          </a:xfrm>
          <a:prstGeom prst="line">
            <a:avLst/>
          </a:prstGeom>
          <a:noFill/>
          <a:ln w="12700">
            <a:solidFill>
              <a:srgbClr val="E6EBF2"/>
            </a:solidFill>
            <a:prstDash val="solid"/>
          </a:ln>
        </p:spPr>
      </p:sp>
      <p:sp>
        <p:nvSpPr>
          <p:cNvPr id="24" name="Text 22"/>
          <p:cNvSpPr/>
          <p:nvPr/>
        </p:nvSpPr>
        <p:spPr>
          <a:xfrm>
            <a:off x="1097280" y="5449824"/>
            <a:ext cx="1463040" cy="384048"/>
          </a:xfrm>
          <a:prstGeom prst="rect">
            <a:avLst/>
          </a:prstGeom>
          <a:noFill/>
          <a:ln/>
        </p:spPr>
        <p:txBody>
          <a:bodyPr wrap="square" lIns="0" tIns="0" rIns="0" bIns="0" rtlCol="0" anchor="ctr"/>
          <a:lstStyle/>
          <a:p>
            <a:pPr indent="0" marL="0">
              <a:buNone/>
            </a:pPr>
            <a:r>
              <a:rPr lang="en-US" sz="1350" b="1" dirty="0">
                <a:solidFill>
                  <a:srgbClr val="0F172A"/>
                </a:solidFill>
                <a:latin typeface="Calibri" pitchFamily="34" charset="0"/>
                <a:ea typeface="Calibri" pitchFamily="34" charset="-122"/>
                <a:cs typeface="Calibri" pitchFamily="34" charset="-120"/>
              </a:rPr>
              <a:t>Quality</a:t>
            </a:r>
            <a:endParaRPr lang="en-US" sz="1350" dirty="0"/>
          </a:p>
        </p:txBody>
      </p:sp>
      <p:sp>
        <p:nvSpPr>
          <p:cNvPr id="25" name="Text 23"/>
          <p:cNvSpPr/>
          <p:nvPr/>
        </p:nvSpPr>
        <p:spPr>
          <a:xfrm>
            <a:off x="2560320" y="5449824"/>
            <a:ext cx="3749040" cy="384048"/>
          </a:xfrm>
          <a:prstGeom prst="rect">
            <a:avLst/>
          </a:prstGeom>
          <a:noFill/>
          <a:ln/>
        </p:spPr>
        <p:txBody>
          <a:bodyPr wrap="square" lIns="0" tIns="0" rIns="0" bIns="0" rtlCol="0" anchor="ctr"/>
          <a:lstStyle/>
          <a:p>
            <a:pPr indent="0" marL="0">
              <a:buNone/>
            </a:pPr>
            <a:r>
              <a:rPr lang="en-US" sz="1250" dirty="0">
                <a:solidFill>
                  <a:srgbClr val="334155"/>
                </a:solidFill>
                <a:latin typeface="Calibri" pitchFamily="34" charset="0"/>
                <a:ea typeface="Calibri" pitchFamily="34" charset="-122"/>
                <a:cs typeface="Calibri" pitchFamily="34" charset="-120"/>
              </a:rPr>
              <a:t>Test suite over real sample leases</a:t>
            </a:r>
            <a:endParaRPr lang="en-US" sz="1250" dirty="0"/>
          </a:p>
        </p:txBody>
      </p:sp>
      <p:sp>
        <p:nvSpPr>
          <p:cNvPr id="26" name="Shape 24"/>
          <p:cNvSpPr/>
          <p:nvPr/>
        </p:nvSpPr>
        <p:spPr>
          <a:xfrm>
            <a:off x="6812280" y="1920240"/>
            <a:ext cx="4526280" cy="4114800"/>
          </a:xfrm>
          <a:prstGeom prst="roundRect">
            <a:avLst>
              <a:gd name="adj" fmla="val 2222"/>
            </a:avLst>
          </a:prstGeom>
          <a:solidFill>
            <a:srgbClr val="FFFFFF"/>
          </a:solidFill>
          <a:ln w="12700">
            <a:solidFill>
              <a:srgbClr val="E6EBF2"/>
            </a:solidFill>
            <a:prstDash val="solid"/>
          </a:ln>
          <a:effectLst>
            <a:outerShdw sx="100000" sy="100000" kx="0" ky="0" algn="bl" rotWithShape="0" blurRad="114300" dist="38100" dir="5400000">
              <a:srgbClr val="1E293B">
                <a:alpha val="12000"/>
              </a:srgbClr>
            </a:outerShdw>
          </a:effectLst>
        </p:spPr>
      </p:sp>
      <p:sp>
        <p:nvSpPr>
          <p:cNvPr id="27" name="Shape 25"/>
          <p:cNvSpPr/>
          <p:nvPr/>
        </p:nvSpPr>
        <p:spPr>
          <a:xfrm>
            <a:off x="7086600" y="2148840"/>
            <a:ext cx="640080" cy="640080"/>
          </a:xfrm>
          <a:prstGeom prst="ellipse">
            <a:avLst/>
          </a:prstGeom>
          <a:solidFill>
            <a:srgbClr val="2563EB"/>
          </a:solidFill>
          <a:ln/>
        </p:spPr>
      </p:sp>
      <p:pic>
        <p:nvPicPr>
          <p:cNvPr id="28" name="Image 0" descr="preencoded.png">    </p:cNvPr>
          <p:cNvPicPr>
            <a:picLocks noChangeAspect="1"/>
          </p:cNvPicPr>
          <p:nvPr/>
        </p:nvPicPr>
        <p:blipFill>
          <a:blip r:embed="rId1"/>
          <a:stretch>
            <a:fillRect/>
          </a:stretch>
        </p:blipFill>
        <p:spPr>
          <a:xfrm>
            <a:off x="7259422" y="2321662"/>
            <a:ext cx="294437" cy="294437"/>
          </a:xfrm>
          <a:prstGeom prst="rect">
            <a:avLst/>
          </a:prstGeom>
        </p:spPr>
      </p:pic>
      <p:sp>
        <p:nvSpPr>
          <p:cNvPr id="29" name="Text 26"/>
          <p:cNvSpPr/>
          <p:nvPr/>
        </p:nvSpPr>
        <p:spPr>
          <a:xfrm>
            <a:off x="7863840" y="2240280"/>
            <a:ext cx="3383280" cy="457200"/>
          </a:xfrm>
          <a:prstGeom prst="rect">
            <a:avLst/>
          </a:prstGeom>
          <a:noFill/>
          <a:ln/>
        </p:spPr>
        <p:txBody>
          <a:bodyPr wrap="square" lIns="0" tIns="0" rIns="0" bIns="0" rtlCol="0" anchor="ctr"/>
          <a:lstStyle/>
          <a:p>
            <a:pPr indent="0" marL="0">
              <a:buNone/>
            </a:pPr>
            <a:r>
              <a:rPr lang="en-US" sz="1600" b="1" dirty="0">
                <a:solidFill>
                  <a:srgbClr val="0F172A"/>
                </a:solidFill>
                <a:latin typeface="Trebuchet MS" pitchFamily="34" charset="0"/>
                <a:ea typeface="Trebuchet MS" pitchFamily="34" charset="-122"/>
                <a:cs typeface="Trebuchet MS" pitchFamily="34" charset="-120"/>
              </a:rPr>
              <a:t>The key design choice</a:t>
            </a:r>
            <a:endParaRPr lang="en-US" sz="1600" dirty="0"/>
          </a:p>
        </p:txBody>
      </p:sp>
      <p:sp>
        <p:nvSpPr>
          <p:cNvPr id="30" name="Text 27"/>
          <p:cNvSpPr/>
          <p:nvPr/>
        </p:nvSpPr>
        <p:spPr>
          <a:xfrm>
            <a:off x="7086600" y="2971800"/>
            <a:ext cx="4023360" cy="548640"/>
          </a:xfrm>
          <a:prstGeom prst="rect">
            <a:avLst/>
          </a:prstGeom>
          <a:noFill/>
          <a:ln/>
        </p:spPr>
        <p:txBody>
          <a:bodyPr wrap="square" lIns="0" tIns="0" rIns="0" bIns="0" rtlCol="0" anchor="ctr"/>
          <a:lstStyle/>
          <a:p>
            <a:pPr indent="0" marL="0">
              <a:lnSpc>
                <a:spcPts val="1900"/>
              </a:lnSpc>
              <a:buNone/>
            </a:pPr>
            <a:r>
              <a:rPr lang="en-US" sz="1350" dirty="0">
                <a:solidFill>
                  <a:srgbClr val="334155"/>
                </a:solidFill>
                <a:latin typeface="Calibri" pitchFamily="34" charset="0"/>
                <a:ea typeface="Calibri" pitchFamily="34" charset="-122"/>
                <a:cs typeface="Calibri" pitchFamily="34" charset="-120"/>
              </a:rPr>
              <a:t>Reading a document has two interchangeable modes behind one interface:</a:t>
            </a:r>
            <a:endParaRPr lang="en-US" sz="1350" dirty="0"/>
          </a:p>
        </p:txBody>
      </p:sp>
      <p:sp>
        <p:nvSpPr>
          <p:cNvPr id="31" name="Shape 28"/>
          <p:cNvSpPr/>
          <p:nvPr/>
        </p:nvSpPr>
        <p:spPr>
          <a:xfrm>
            <a:off x="7086600" y="3611880"/>
            <a:ext cx="3977640" cy="685800"/>
          </a:xfrm>
          <a:prstGeom prst="roundRect">
            <a:avLst>
              <a:gd name="adj" fmla="val 10667"/>
            </a:avLst>
          </a:prstGeom>
          <a:solidFill>
            <a:srgbClr val="EAF0FE"/>
          </a:solidFill>
          <a:ln w="12700">
            <a:solidFill>
              <a:srgbClr val="CFE0FB"/>
            </a:solidFill>
            <a:prstDash val="solid"/>
          </a:ln>
        </p:spPr>
      </p:sp>
      <p:sp>
        <p:nvSpPr>
          <p:cNvPr id="32" name="Text 29"/>
          <p:cNvSpPr/>
          <p:nvPr/>
        </p:nvSpPr>
        <p:spPr>
          <a:xfrm>
            <a:off x="7269480" y="3712464"/>
            <a:ext cx="3657600" cy="457200"/>
          </a:xfrm>
          <a:prstGeom prst="rect">
            <a:avLst/>
          </a:prstGeom>
          <a:noFill/>
          <a:ln/>
        </p:spPr>
        <p:txBody>
          <a:bodyPr wrap="square" lIns="0" tIns="0" rIns="0" bIns="0" rtlCol="0" anchor="ctr"/>
          <a:lstStyle/>
          <a:p>
            <a:pPr indent="0" marL="0">
              <a:buNone/>
            </a:pPr>
            <a:r>
              <a:rPr lang="en-US" sz="1350" b="1" dirty="0">
                <a:solidFill>
                  <a:srgbClr val="1D4ED8"/>
                </a:solidFill>
                <a:latin typeface="Calibri" pitchFamily="34" charset="0"/>
                <a:ea typeface="Calibri" pitchFamily="34" charset="-122"/>
                <a:cs typeface="Calibri" pitchFamily="34" charset="-120"/>
              </a:rPr>
              <a:t>regex</a:t>
            </a:r>
            <a:pPr indent="0" marL="0">
              <a:buNone/>
            </a:pPr>
            <a:r>
              <a:rPr lang="en-US" sz="1350" dirty="0">
                <a:solidFill>
                  <a:srgbClr val="334155"/>
                </a:solidFill>
                <a:latin typeface="Calibri" pitchFamily="34" charset="0"/>
                <a:ea typeface="Calibri" pitchFamily="34" charset="-122"/>
                <a:cs typeface="Calibri" pitchFamily="34" charset="-120"/>
              </a:rPr>
              <a:t>  ·  offline, no API key</a:t>
            </a:r>
            <a:endParaRPr lang="en-US" sz="1350" dirty="0"/>
          </a:p>
        </p:txBody>
      </p:sp>
      <p:sp>
        <p:nvSpPr>
          <p:cNvPr id="33" name="Shape 30"/>
          <p:cNvSpPr/>
          <p:nvPr/>
        </p:nvSpPr>
        <p:spPr>
          <a:xfrm>
            <a:off x="7086600" y="4389120"/>
            <a:ext cx="3977640" cy="685800"/>
          </a:xfrm>
          <a:prstGeom prst="roundRect">
            <a:avLst>
              <a:gd name="adj" fmla="val 10667"/>
            </a:avLst>
          </a:prstGeom>
          <a:solidFill>
            <a:srgbClr val="F0EAFD"/>
          </a:solidFill>
          <a:ln w="12700">
            <a:solidFill>
              <a:srgbClr val="DDD0FA"/>
            </a:solidFill>
            <a:prstDash val="solid"/>
          </a:ln>
        </p:spPr>
      </p:sp>
      <p:sp>
        <p:nvSpPr>
          <p:cNvPr id="34" name="Text 31"/>
          <p:cNvSpPr/>
          <p:nvPr/>
        </p:nvSpPr>
        <p:spPr>
          <a:xfrm>
            <a:off x="7269480" y="4489704"/>
            <a:ext cx="3657600" cy="457200"/>
          </a:xfrm>
          <a:prstGeom prst="rect">
            <a:avLst/>
          </a:prstGeom>
          <a:noFill/>
          <a:ln/>
        </p:spPr>
        <p:txBody>
          <a:bodyPr wrap="square" lIns="0" tIns="0" rIns="0" bIns="0" rtlCol="0" anchor="ctr"/>
          <a:lstStyle/>
          <a:p>
            <a:pPr indent="0" marL="0">
              <a:buNone/>
            </a:pPr>
            <a:r>
              <a:rPr lang="en-US" sz="1350" b="1" dirty="0">
                <a:solidFill>
                  <a:srgbClr val="6D28D9"/>
                </a:solidFill>
                <a:latin typeface="Calibri" pitchFamily="34" charset="0"/>
                <a:ea typeface="Calibri" pitchFamily="34" charset="-122"/>
                <a:cs typeface="Calibri" pitchFamily="34" charset="-120"/>
              </a:rPr>
              <a:t>LLM</a:t>
            </a:r>
            <a:pPr indent="0" marL="0">
              <a:buNone/>
            </a:pPr>
            <a:r>
              <a:rPr lang="en-US" sz="1350" dirty="0">
                <a:solidFill>
                  <a:srgbClr val="334155"/>
                </a:solidFill>
                <a:latin typeface="Calibri" pitchFamily="34" charset="0"/>
                <a:ea typeface="Calibri" pitchFamily="34" charset="-122"/>
                <a:cs typeface="Calibri" pitchFamily="34" charset="-120"/>
              </a:rPr>
              <a:t>  ·  same interface, just add a key</a:t>
            </a:r>
            <a:endParaRPr lang="en-US" sz="1350" dirty="0"/>
          </a:p>
        </p:txBody>
      </p:sp>
      <p:sp>
        <p:nvSpPr>
          <p:cNvPr id="35" name="Text 32"/>
          <p:cNvSpPr/>
          <p:nvPr/>
        </p:nvSpPr>
        <p:spPr>
          <a:xfrm>
            <a:off x="7086600" y="5230368"/>
            <a:ext cx="4023360" cy="731520"/>
          </a:xfrm>
          <a:prstGeom prst="rect">
            <a:avLst/>
          </a:prstGeom>
          <a:noFill/>
          <a:ln/>
        </p:spPr>
        <p:txBody>
          <a:bodyPr wrap="square" lIns="0" tIns="0" rIns="0" bIns="0" rtlCol="0" anchor="ctr"/>
          <a:lstStyle/>
          <a:p>
            <a:pPr indent="0" marL="0">
              <a:lnSpc>
                <a:spcPts val="1800"/>
              </a:lnSpc>
              <a:buNone/>
            </a:pPr>
            <a:r>
              <a:rPr lang="en-US" sz="1300" i="1" dirty="0">
                <a:solidFill>
                  <a:srgbClr val="1D4ED8"/>
                </a:solidFill>
                <a:latin typeface="Calibri" pitchFamily="34" charset="0"/>
                <a:ea typeface="Calibri" pitchFamily="34" charset="-122"/>
                <a:cs typeface="Calibri" pitchFamily="34" charset="-120"/>
              </a:rPr>
              <a:t>Swap one for the other and nothing else changes. The AI is a component you can turn on, not the whole system.</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8778240" y="3291840"/>
            <a:ext cx="5943600" cy="5943600"/>
          </a:xfrm>
          <a:prstGeom prst="ellipse">
            <a:avLst/>
          </a:prstGeom>
          <a:solidFill>
            <a:srgbClr val="1B2638"/>
          </a:solidFill>
          <a:ln/>
        </p:spPr>
      </p:sp>
      <p:sp>
        <p:nvSpPr>
          <p:cNvPr id="3" name="Shape 1"/>
          <p:cNvSpPr/>
          <p:nvPr/>
        </p:nvSpPr>
        <p:spPr>
          <a:xfrm>
            <a:off x="822960" y="868680"/>
            <a:ext cx="566928" cy="566928"/>
          </a:xfrm>
          <a:prstGeom prst="ellipse">
            <a:avLst/>
          </a:prstGeom>
          <a:solidFill>
            <a:srgbClr val="2563EB"/>
          </a:solidFill>
          <a:ln/>
        </p:spPr>
      </p:sp>
      <p:pic>
        <p:nvPicPr>
          <p:cNvPr id="4" name="Image 0" descr="preencoded.png">    </p:cNvPr>
          <p:cNvPicPr>
            <a:picLocks noChangeAspect="1"/>
          </p:cNvPicPr>
          <p:nvPr/>
        </p:nvPicPr>
        <p:blipFill>
          <a:blip r:embed="rId1"/>
          <a:stretch>
            <a:fillRect/>
          </a:stretch>
        </p:blipFill>
        <p:spPr>
          <a:xfrm>
            <a:off x="976031" y="1021751"/>
            <a:ext cx="260787" cy="260787"/>
          </a:xfrm>
          <a:prstGeom prst="rect">
            <a:avLst/>
          </a:prstGeom>
        </p:spPr>
      </p:pic>
      <p:sp>
        <p:nvSpPr>
          <p:cNvPr id="5" name="Text 2"/>
          <p:cNvSpPr/>
          <p:nvPr/>
        </p:nvSpPr>
        <p:spPr>
          <a:xfrm>
            <a:off x="1508760" y="841248"/>
            <a:ext cx="5486400" cy="640080"/>
          </a:xfrm>
          <a:prstGeom prst="rect">
            <a:avLst/>
          </a:prstGeom>
          <a:noFill/>
          <a:ln/>
        </p:spPr>
        <p:txBody>
          <a:bodyPr wrap="square" lIns="0" tIns="0" rIns="0" bIns="0" rtlCol="0" anchor="ctr"/>
          <a:lstStyle/>
          <a:p>
            <a:pPr indent="0" marL="0">
              <a:buNone/>
            </a:pPr>
            <a:r>
              <a:rPr lang="en-US" sz="2400" b="1" dirty="0">
                <a:solidFill>
                  <a:srgbClr val="FFFFFF"/>
                </a:solidFill>
                <a:latin typeface="Trebuchet MS" pitchFamily="34" charset="0"/>
                <a:ea typeface="Trebuchet MS" pitchFamily="34" charset="-122"/>
                <a:cs typeface="Trebuchet MS" pitchFamily="34" charset="-120"/>
              </a:rPr>
              <a:t>LeaseLens</a:t>
            </a:r>
            <a:endParaRPr lang="en-US" sz="2400" dirty="0"/>
          </a:p>
        </p:txBody>
      </p:sp>
      <p:sp>
        <p:nvSpPr>
          <p:cNvPr id="6" name="Text 3"/>
          <p:cNvSpPr/>
          <p:nvPr/>
        </p:nvSpPr>
        <p:spPr>
          <a:xfrm>
            <a:off x="822960" y="2468880"/>
            <a:ext cx="10058400" cy="731520"/>
          </a:xfrm>
          <a:prstGeom prst="rect">
            <a:avLst/>
          </a:prstGeom>
          <a:noFill/>
          <a:ln/>
        </p:spPr>
        <p:txBody>
          <a:bodyPr wrap="square" lIns="0" tIns="0" rIns="0" bIns="0" rtlCol="0" anchor="ctr"/>
          <a:lstStyle/>
          <a:p>
            <a:pPr indent="0" marL="0">
              <a:buNone/>
            </a:pPr>
            <a:r>
              <a:rPr lang="en-US" sz="4000" b="1" dirty="0">
                <a:solidFill>
                  <a:srgbClr val="FFFFFF"/>
                </a:solidFill>
                <a:latin typeface="Trebuchet MS" pitchFamily="34" charset="0"/>
                <a:ea typeface="Trebuchet MS" pitchFamily="34" charset="-122"/>
                <a:cs typeface="Trebuchet MS" pitchFamily="34" charset="-120"/>
              </a:rPr>
              <a:t>Read the document,</a:t>
            </a:r>
            <a:endParaRPr lang="en-US" sz="4000" dirty="0"/>
          </a:p>
        </p:txBody>
      </p:sp>
      <p:sp>
        <p:nvSpPr>
          <p:cNvPr id="7" name="Text 4"/>
          <p:cNvSpPr/>
          <p:nvPr/>
        </p:nvSpPr>
        <p:spPr>
          <a:xfrm>
            <a:off x="822960" y="3246120"/>
            <a:ext cx="10058400" cy="731520"/>
          </a:xfrm>
          <a:prstGeom prst="rect">
            <a:avLst/>
          </a:prstGeom>
          <a:noFill/>
          <a:ln/>
        </p:spPr>
        <p:txBody>
          <a:bodyPr wrap="square" lIns="0" tIns="0" rIns="0" bIns="0" rtlCol="0" anchor="ctr"/>
          <a:lstStyle/>
          <a:p>
            <a:pPr indent="0" marL="0">
              <a:buNone/>
            </a:pPr>
            <a:r>
              <a:rPr lang="en-US" sz="4000" b="1" dirty="0">
                <a:solidFill>
                  <a:srgbClr val="5B8DEF"/>
                </a:solidFill>
                <a:latin typeface="Trebuchet MS" pitchFamily="34" charset="0"/>
                <a:ea typeface="Trebuchet MS" pitchFamily="34" charset="-122"/>
                <a:cs typeface="Trebuchet MS" pitchFamily="34" charset="-120"/>
              </a:rPr>
              <a:t>flag what matters, skip the rest.</a:t>
            </a:r>
            <a:endParaRPr lang="en-US" sz="4000" dirty="0"/>
          </a:p>
        </p:txBody>
      </p:sp>
      <p:sp>
        <p:nvSpPr>
          <p:cNvPr id="8" name="Text 5"/>
          <p:cNvSpPr/>
          <p:nvPr/>
        </p:nvSpPr>
        <p:spPr>
          <a:xfrm>
            <a:off x="841248" y="4206240"/>
            <a:ext cx="9144000" cy="457200"/>
          </a:xfrm>
          <a:prstGeom prst="rect">
            <a:avLst/>
          </a:prstGeom>
          <a:noFill/>
          <a:ln/>
        </p:spPr>
        <p:txBody>
          <a:bodyPr wrap="square" lIns="0" tIns="0" rIns="0" bIns="0" rtlCol="0" anchor="ctr"/>
          <a:lstStyle/>
          <a:p>
            <a:pPr indent="0" marL="0">
              <a:buNone/>
            </a:pPr>
            <a:r>
              <a:rPr lang="en-US" sz="1700" dirty="0">
                <a:solidFill>
                  <a:srgbClr val="9DB0CE"/>
                </a:solidFill>
                <a:latin typeface="Calibri" pitchFamily="34" charset="0"/>
                <a:ea typeface="Calibri" pitchFamily="34" charset="-122"/>
                <a:cs typeface="Calibri" pitchFamily="34" charset="-120"/>
              </a:rPr>
              <a:t>Thank you for watching. Happy to walk through the code or where it goes next.</a:t>
            </a:r>
            <a:endParaRPr lang="en-US" sz="1700" dirty="0"/>
          </a:p>
        </p:txBody>
      </p:sp>
      <p:sp>
        <p:nvSpPr>
          <p:cNvPr id="9" name="Shape 6"/>
          <p:cNvSpPr/>
          <p:nvPr/>
        </p:nvSpPr>
        <p:spPr>
          <a:xfrm>
            <a:off x="868680" y="5074920"/>
            <a:ext cx="2327148" cy="502920"/>
          </a:xfrm>
          <a:prstGeom prst="roundRect">
            <a:avLst>
              <a:gd name="adj" fmla="val 18182"/>
            </a:avLst>
          </a:prstGeom>
          <a:solidFill>
            <a:srgbClr val="1B2638"/>
          </a:solidFill>
          <a:ln w="12700">
            <a:solidFill>
              <a:srgbClr val="2C3B53"/>
            </a:solidFill>
            <a:prstDash val="solid"/>
          </a:ln>
        </p:spPr>
      </p:sp>
      <p:pic>
        <p:nvPicPr>
          <p:cNvPr id="10" name="Image 1" descr="preencoded.png">    </p:cNvPr>
          <p:cNvPicPr>
            <a:picLocks noChangeAspect="1"/>
          </p:cNvPicPr>
          <p:nvPr/>
        </p:nvPicPr>
        <p:blipFill>
          <a:blip r:embed="rId2"/>
          <a:stretch>
            <a:fillRect/>
          </a:stretch>
        </p:blipFill>
        <p:spPr>
          <a:xfrm>
            <a:off x="1051560" y="5230368"/>
            <a:ext cx="182880" cy="182880"/>
          </a:xfrm>
          <a:prstGeom prst="rect">
            <a:avLst/>
          </a:prstGeom>
        </p:spPr>
      </p:pic>
      <p:sp>
        <p:nvSpPr>
          <p:cNvPr id="11" name="Text 7"/>
          <p:cNvSpPr/>
          <p:nvPr/>
        </p:nvSpPr>
        <p:spPr>
          <a:xfrm>
            <a:off x="1325880" y="5074920"/>
            <a:ext cx="1915668" cy="502920"/>
          </a:xfrm>
          <a:prstGeom prst="rect">
            <a:avLst/>
          </a:prstGeom>
          <a:noFill/>
          <a:ln/>
        </p:spPr>
        <p:txBody>
          <a:bodyPr wrap="square" lIns="0" tIns="0" rIns="0" bIns="0" rtlCol="0" anchor="ctr"/>
          <a:lstStyle/>
          <a:p>
            <a:pPr indent="0" marL="0">
              <a:buNone/>
            </a:pPr>
            <a:r>
              <a:rPr lang="en-US" sz="1350" dirty="0">
                <a:solidFill>
                  <a:srgbClr val="D7E2F5"/>
                </a:solidFill>
                <a:latin typeface="Calibri" pitchFamily="34" charset="0"/>
                <a:ea typeface="Calibri" pitchFamily="34" charset="-122"/>
                <a:cs typeface="Calibri" pitchFamily="34" charset="-120"/>
              </a:rPr>
              <a:t>mulaganss@gmail.com</a:t>
            </a:r>
            <a:endParaRPr lang="en-US" sz="1350" dirty="0"/>
          </a:p>
        </p:txBody>
      </p:sp>
      <p:sp>
        <p:nvSpPr>
          <p:cNvPr id="12" name="Shape 8"/>
          <p:cNvSpPr/>
          <p:nvPr/>
        </p:nvSpPr>
        <p:spPr>
          <a:xfrm>
            <a:off x="3378708" y="5074920"/>
            <a:ext cx="2615184" cy="502920"/>
          </a:xfrm>
          <a:prstGeom prst="roundRect">
            <a:avLst>
              <a:gd name="adj" fmla="val 18182"/>
            </a:avLst>
          </a:prstGeom>
          <a:solidFill>
            <a:srgbClr val="1B2638"/>
          </a:solidFill>
          <a:ln w="12700">
            <a:solidFill>
              <a:srgbClr val="2C3B53"/>
            </a:solidFill>
            <a:prstDash val="solid"/>
          </a:ln>
        </p:spPr>
      </p:sp>
      <p:pic>
        <p:nvPicPr>
          <p:cNvPr id="13" name="Image 2" descr="preencoded.png">    </p:cNvPr>
          <p:cNvPicPr>
            <a:picLocks noChangeAspect="1"/>
          </p:cNvPicPr>
          <p:nvPr/>
        </p:nvPicPr>
        <p:blipFill>
          <a:blip r:embed="rId3"/>
          <a:stretch>
            <a:fillRect/>
          </a:stretch>
        </p:blipFill>
        <p:spPr>
          <a:xfrm>
            <a:off x="3561588" y="5230368"/>
            <a:ext cx="182880" cy="182880"/>
          </a:xfrm>
          <a:prstGeom prst="rect">
            <a:avLst/>
          </a:prstGeom>
        </p:spPr>
      </p:pic>
      <p:sp>
        <p:nvSpPr>
          <p:cNvPr id="14" name="Text 9"/>
          <p:cNvSpPr/>
          <p:nvPr/>
        </p:nvSpPr>
        <p:spPr>
          <a:xfrm>
            <a:off x="3835908" y="5074920"/>
            <a:ext cx="2203704" cy="502920"/>
          </a:xfrm>
          <a:prstGeom prst="rect">
            <a:avLst/>
          </a:prstGeom>
          <a:noFill/>
          <a:ln/>
        </p:spPr>
        <p:txBody>
          <a:bodyPr wrap="square" lIns="0" tIns="0" rIns="0" bIns="0" rtlCol="0" anchor="ctr"/>
          <a:lstStyle/>
          <a:p>
            <a:pPr indent="0" marL="0">
              <a:buNone/>
            </a:pPr>
            <a:r>
              <a:rPr lang="en-US" sz="1350" dirty="0">
                <a:solidFill>
                  <a:srgbClr val="D7E2F5"/>
                </a:solidFill>
                <a:latin typeface="Calibri" pitchFamily="34" charset="0"/>
                <a:ea typeface="Calibri" pitchFamily="34" charset="-122"/>
                <a:cs typeface="Calibri" pitchFamily="34" charset="-120"/>
              </a:rPr>
              <a:t>github.com/…/leaselens</a:t>
            </a:r>
            <a:endParaRPr lang="en-US" sz="1350" dirty="0"/>
          </a:p>
        </p:txBody>
      </p:sp>
      <p:sp>
        <p:nvSpPr>
          <p:cNvPr id="15" name="Shape 10"/>
          <p:cNvSpPr/>
          <p:nvPr/>
        </p:nvSpPr>
        <p:spPr>
          <a:xfrm>
            <a:off x="6176772" y="5074920"/>
            <a:ext cx="790956" cy="502920"/>
          </a:xfrm>
          <a:prstGeom prst="roundRect">
            <a:avLst>
              <a:gd name="adj" fmla="val 18182"/>
            </a:avLst>
          </a:prstGeom>
          <a:solidFill>
            <a:srgbClr val="1B2638"/>
          </a:solidFill>
          <a:ln w="12700">
            <a:solidFill>
              <a:srgbClr val="2C3B53"/>
            </a:solidFill>
            <a:prstDash val="solid"/>
          </a:ln>
        </p:spPr>
      </p:sp>
      <p:pic>
        <p:nvPicPr>
          <p:cNvPr id="16" name="Image 3" descr="preencoded.png">    </p:cNvPr>
          <p:cNvPicPr>
            <a:picLocks noChangeAspect="1"/>
          </p:cNvPicPr>
          <p:nvPr/>
        </p:nvPicPr>
        <p:blipFill>
          <a:blip r:embed="rId4"/>
          <a:stretch>
            <a:fillRect/>
          </a:stretch>
        </p:blipFill>
        <p:spPr>
          <a:xfrm>
            <a:off x="6359652" y="5230368"/>
            <a:ext cx="182880" cy="182880"/>
          </a:xfrm>
          <a:prstGeom prst="rect">
            <a:avLst/>
          </a:prstGeom>
        </p:spPr>
      </p:pic>
      <p:sp>
        <p:nvSpPr>
          <p:cNvPr id="17" name="Text 11"/>
          <p:cNvSpPr/>
          <p:nvPr/>
        </p:nvSpPr>
        <p:spPr>
          <a:xfrm>
            <a:off x="6633972" y="5074920"/>
            <a:ext cx="379476" cy="502920"/>
          </a:xfrm>
          <a:prstGeom prst="rect">
            <a:avLst/>
          </a:prstGeom>
          <a:noFill/>
          <a:ln/>
        </p:spPr>
        <p:txBody>
          <a:bodyPr wrap="square" lIns="0" tIns="0" rIns="0" bIns="0" rtlCol="0" anchor="ctr"/>
          <a:lstStyle/>
          <a:p>
            <a:pPr indent="0" marL="0">
              <a:buNone/>
            </a:pPr>
            <a:r>
              <a:rPr lang="en-US" sz="1350" dirty="0">
                <a:solidFill>
                  <a:srgbClr val="D7E2F5"/>
                </a:solidFill>
                <a:latin typeface="Calibri" pitchFamily="34" charset="0"/>
                <a:ea typeface="Calibri" pitchFamily="34" charset="-122"/>
                <a:cs typeface="Calibri" pitchFamily="34" charset="-120"/>
              </a:rPr>
              <a:t>Sai</a:t>
            </a:r>
            <a:endParaRPr lang="en-US" sz="1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LeaseLens</dc:title>
  <dc:subject>PptxGenJS Presentation</dc:subject>
  <dc:creator>Sai</dc:creator>
  <cp:lastModifiedBy>Sai</cp:lastModifiedBy>
  <cp:revision>1</cp:revision>
  <dcterms:created xsi:type="dcterms:W3CDTF">2026-06-06T20:34:43Z</dcterms:created>
  <dcterms:modified xsi:type="dcterms:W3CDTF">2026-06-06T20:34:43Z</dcterms:modified>
</cp:coreProperties>
</file>